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tudent Font" charset="1" panose="00000000000000000000"/>
      <p:regular r:id="rId14"/>
    </p:embeddedFont>
    <p:embeddedFont>
      <p:font typeface="Bricolage Grotesque" charset="1" panose="020B0605040402000204"/>
      <p:regular r:id="rId15"/>
    </p:embeddedFont>
    <p:embeddedFont>
      <p:font typeface="Open Sans" charset="1" panose="020B0606030504020204"/>
      <p:regular r:id="rId16"/>
    </p:embeddedFont>
    <p:embeddedFont>
      <p:font typeface="Bricolage Grotesque Bold" charset="1" panose="020B0605040402000204"/>
      <p:regular r:id="rId17"/>
    </p:embeddedFont>
    <p:embeddedFont>
      <p:font typeface="Open Sans Italics" charset="1" panose="020B0606030504020204"/>
      <p:regular r:id="rId18"/>
    </p:embeddedFont>
    <p:embeddedFont>
      <p:font typeface="Open Sans Bold" charset="1" panose="020B0806030504020204"/>
      <p:regular r:id="rId19"/>
    </p:embeddedFont>
    <p:embeddedFont>
      <p:font typeface="Arimo Italics" charset="1" panose="020B0604020202090204"/>
      <p:regular r:id="rId20"/>
    </p:embeddedFont>
    <p:embeddedFont>
      <p:font typeface="TT Interphases Bold" charset="1" panose="02000803060000020004"/>
      <p:regular r:id="rId21"/>
    </p:embeddedFont>
    <p:embeddedFont>
      <p:font typeface="TT Interphases" charset="1" panose="02000503020000020004"/>
      <p:regular r:id="rId22"/>
    </p:embeddedFont>
    <p:embeddedFont>
      <p:font typeface="Agrandir Wide Bold" charset="1" panose="00000805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github.com/Amiralqedra25/IIUM-ACADAMY-AI-PROJECT-MANAGEMENT-BOOT-CAMP/blob/main/Data%20Structure%20Template.xlsx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415312" y="478275"/>
            <a:ext cx="3411600" cy="1559970"/>
          </a:xfrm>
          <a:custGeom>
            <a:avLst/>
            <a:gdLst/>
            <a:ahLst/>
            <a:cxnLst/>
            <a:rect r="r" b="b" t="t" l="l"/>
            <a:pathLst>
              <a:path h="1559970" w="341160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997" r="0" b="-5469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26382" y="9075907"/>
            <a:ext cx="449144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4397" y="6687239"/>
            <a:ext cx="703860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 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397" y="8318830"/>
            <a:ext cx="84680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Document your data sources, fields, quality, and preparation requirements.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4397" y="8749237"/>
            <a:ext cx="8449686" cy="83391"/>
            <a:chOff x="0" y="0"/>
            <a:chExt cx="2225432" cy="219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5432" cy="21963"/>
            </a:xfrm>
            <a:custGeom>
              <a:avLst/>
              <a:gdLst/>
              <a:ahLst/>
              <a:cxnLst/>
              <a:rect r="r" b="b" t="t" l="l"/>
              <a:pathLst>
                <a:path h="21963" w="2225432">
                  <a:moveTo>
                    <a:pt x="0" y="0"/>
                  </a:moveTo>
                  <a:lnTo>
                    <a:pt x="2225432" y="0"/>
                  </a:lnTo>
                  <a:lnTo>
                    <a:pt x="222543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25432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239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74" y="165100"/>
            <a:ext cx="7373549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Requirement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385599"/>
            <a:ext cx="5558865" cy="38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Good AI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solutions depend on good data.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909081"/>
            <a:ext cx="5461160" cy="83391"/>
            <a:chOff x="0" y="0"/>
            <a:chExt cx="1438330" cy="21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330" cy="21963"/>
            </a:xfrm>
            <a:custGeom>
              <a:avLst/>
              <a:gdLst/>
              <a:ahLst/>
              <a:cxnLst/>
              <a:rect r="r" b="b" t="t" l="l"/>
              <a:pathLst>
                <a:path h="21963" w="1438330">
                  <a:moveTo>
                    <a:pt x="0" y="0"/>
                  </a:moveTo>
                  <a:lnTo>
                    <a:pt x="1438330" y="0"/>
                  </a:lnTo>
                  <a:lnTo>
                    <a:pt x="143833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8330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35082" y="3004164"/>
          <a:ext cx="16224218" cy="4686300"/>
        </p:xfrm>
        <a:graphic>
          <a:graphicData uri="http://schemas.openxmlformats.org/drawingml/2006/table">
            <a:tbl>
              <a:tblPr/>
              <a:tblGrid>
                <a:gridCol w="16224218"/>
              </a:tblGrid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Complete the Data Source Overview — where does your data come from?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Fill in the Data Dictionary — list each field, its type, and an example value.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Check off the Data Cleaning Checklist — what data quality issues exist?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Write analysis notes — what insights do you expect to extract from the data?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Complete the Data-to-Output Mapping — connect each data field to a specific output.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 marL="647703" indent="-323852" lvl="1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Sketch the data processing flow — show how data moves from source to output.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478586" y="8357214"/>
            <a:ext cx="7893232" cy="3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</a:t>
            </a:r>
            <a:r>
              <a:rPr lang="en-US" sz="21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tailed tables should be completed in Data Structure </a:t>
            </a:r>
            <a:r>
              <a:rPr lang="en-US" sz="2199" i="true" u="sng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  <a:hlinkClick r:id="rId3" tooltip="https://github.com/Amiralqedra25/IIUM-ACADAMY-AI-PROJECT-MANAGEMENT-BOOT-CAMP/blob/main/Data%20Structure%20Template.xlsx"/>
              </a:rPr>
              <a:t>Template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78586" y="8863255"/>
            <a:ext cx="7853421" cy="83391"/>
            <a:chOff x="0" y="0"/>
            <a:chExt cx="2068391" cy="219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8391" cy="21963"/>
            </a:xfrm>
            <a:custGeom>
              <a:avLst/>
              <a:gdLst/>
              <a:ahLst/>
              <a:cxnLst/>
              <a:rect r="r" b="b" t="t" l="l"/>
              <a:pathLst>
                <a:path h="21963" w="2068391">
                  <a:moveTo>
                    <a:pt x="0" y="0"/>
                  </a:moveTo>
                  <a:lnTo>
                    <a:pt x="2068391" y="0"/>
                  </a:lnTo>
                  <a:lnTo>
                    <a:pt x="206839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8391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5100"/>
            <a:ext cx="6906953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Source Overview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2439103"/>
          <a:ext cx="16230600" cy="6550057"/>
        </p:xfrm>
        <a:graphic>
          <a:graphicData uri="http://schemas.openxmlformats.org/drawingml/2006/table">
            <a:tbl>
              <a:tblPr/>
              <a:tblGrid>
                <a:gridCol w="5171544"/>
                <a:gridCol w="11059056"/>
              </a:tblGrid>
              <a:tr h="647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Source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0305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Owner / Custodian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System / Platform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ERP, CRM, Excel, SQL database, sensor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File Format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CSV, Excel (.xlsx), JSON, SQL, API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Update Frequency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Real-time, daily, weekly, monthly, on-demand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Date Range Available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Jan 2020 – Present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Number of Records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Access Method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Direct download, API, database query, manual export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0392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Sensitivity / Confidentiality 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Public, Internal, Confidential, Restricted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5100"/>
            <a:ext cx="5798583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 Summary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74557" y="3149152"/>
          <a:ext cx="16230600" cy="4482238"/>
        </p:xfrm>
        <a:graphic>
          <a:graphicData uri="http://schemas.openxmlformats.org/drawingml/2006/table">
            <a:tbl>
              <a:tblPr/>
              <a:tblGrid>
                <a:gridCol w="5171544"/>
                <a:gridCol w="11059056"/>
              </a:tblGrid>
              <a:tr h="6477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number of records / rows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 number of fields / columns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Time period covered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identifier field (primary key)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Employee ID, Order No, Timestamp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Main entity or subject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Customer, Product, Transaction, Event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Known missing data issues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Which fi</a:t>
                      </a: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elds have empty or null values?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390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Known data quality issues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Duplicates, wrong formats, outliers, inconsistencies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82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974557" y="1524630"/>
            <a:ext cx="867348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all departments that will participate in or be affected by this project.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3935" y="1909081"/>
            <a:ext cx="8537423" cy="83391"/>
            <a:chOff x="0" y="0"/>
            <a:chExt cx="2248539" cy="219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8539" cy="21963"/>
            </a:xfrm>
            <a:custGeom>
              <a:avLst/>
              <a:gdLst/>
              <a:ahLst/>
              <a:cxnLst/>
              <a:rect r="r" b="b" t="t" l="l"/>
              <a:pathLst>
                <a:path h="21963" w="2248539">
                  <a:moveTo>
                    <a:pt x="0" y="0"/>
                  </a:moveTo>
                  <a:lnTo>
                    <a:pt x="2248539" y="0"/>
                  </a:lnTo>
                  <a:lnTo>
                    <a:pt x="224853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48539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5100"/>
            <a:ext cx="8320686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Dictionary Reference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557" y="1524630"/>
            <a:ext cx="8169443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the Excel companion file for detailed field-level documentation.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3935" y="1909081"/>
            <a:ext cx="8000559" cy="83391"/>
            <a:chOff x="0" y="0"/>
            <a:chExt cx="2107143" cy="21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7143" cy="21963"/>
            </a:xfrm>
            <a:custGeom>
              <a:avLst/>
              <a:gdLst/>
              <a:ahLst/>
              <a:cxnLst/>
              <a:rect r="r" b="b" t="t" l="l"/>
              <a:pathLst>
                <a:path h="21963" w="2107143">
                  <a:moveTo>
                    <a:pt x="0" y="0"/>
                  </a:moveTo>
                  <a:lnTo>
                    <a:pt x="2107143" y="0"/>
                  </a:lnTo>
                  <a:lnTo>
                    <a:pt x="2107143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7143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097371"/>
            <a:ext cx="4853096" cy="4227883"/>
            <a:chOff x="0" y="0"/>
            <a:chExt cx="1266502" cy="11033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6502" cy="1103342"/>
            </a:xfrm>
            <a:custGeom>
              <a:avLst/>
              <a:gdLst/>
              <a:ahLst/>
              <a:cxnLst/>
              <a:rect r="r" b="b" t="t" l="l"/>
              <a:pathLst>
                <a:path h="1103342" w="1266502">
                  <a:moveTo>
                    <a:pt x="1142042" y="1103341"/>
                  </a:moveTo>
                  <a:lnTo>
                    <a:pt x="124460" y="1103341"/>
                  </a:lnTo>
                  <a:cubicBezTo>
                    <a:pt x="55880" y="1103341"/>
                    <a:pt x="0" y="1047461"/>
                    <a:pt x="0" y="9788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42042" y="0"/>
                  </a:lnTo>
                  <a:cubicBezTo>
                    <a:pt x="1210622" y="0"/>
                    <a:pt x="1266502" y="55880"/>
                    <a:pt x="1266502" y="124460"/>
                  </a:cubicBezTo>
                  <a:lnTo>
                    <a:pt x="1266502" y="978882"/>
                  </a:lnTo>
                  <a:cubicBezTo>
                    <a:pt x="1266502" y="1047461"/>
                    <a:pt x="1210622" y="1103342"/>
                    <a:pt x="1142042" y="1103342"/>
                  </a:cubicBezTo>
                  <a:close/>
                </a:path>
              </a:pathLst>
            </a:custGeom>
            <a:solidFill>
              <a:srgbClr val="A2CAD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-877240" y="5003312"/>
            <a:ext cx="4227883" cy="416003"/>
            <a:chOff x="0" y="0"/>
            <a:chExt cx="917843" cy="903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843" cy="90311"/>
            </a:xfrm>
            <a:custGeom>
              <a:avLst/>
              <a:gdLst/>
              <a:ahLst/>
              <a:cxnLst/>
              <a:rect r="r" b="b" t="t" l="l"/>
              <a:pathLst>
                <a:path h="90311" w="917843">
                  <a:moveTo>
                    <a:pt x="0" y="0"/>
                  </a:moveTo>
                  <a:lnTo>
                    <a:pt x="917843" y="0"/>
                  </a:lnTo>
                  <a:lnTo>
                    <a:pt x="917843" y="90311"/>
                  </a:lnTo>
                  <a:lnTo>
                    <a:pt x="0" y="90311"/>
                  </a:lnTo>
                  <a:close/>
                </a:path>
              </a:pathLst>
            </a:custGeom>
            <a:solidFill>
              <a:srgbClr val="1B3A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7843" cy="128411"/>
            </a:xfrm>
            <a:prstGeom prst="rect">
              <a:avLst/>
            </a:prstGeom>
          </p:spPr>
          <p:txBody>
            <a:bodyPr anchor="ctr" rtlCol="false" tIns="61630" lIns="61630" bIns="61630" rIns="616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53503" y="3375501"/>
            <a:ext cx="3396173" cy="634311"/>
            <a:chOff x="0" y="0"/>
            <a:chExt cx="1257842" cy="2349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7842" cy="234930"/>
            </a:xfrm>
            <a:custGeom>
              <a:avLst/>
              <a:gdLst/>
              <a:ahLst/>
              <a:cxnLst/>
              <a:rect r="r" b="b" t="t" l="l"/>
              <a:pathLst>
                <a:path h="234930" w="1257842">
                  <a:moveTo>
                    <a:pt x="111700" y="0"/>
                  </a:moveTo>
                  <a:lnTo>
                    <a:pt x="1146142" y="0"/>
                  </a:lnTo>
                  <a:cubicBezTo>
                    <a:pt x="1175766" y="0"/>
                    <a:pt x="1204178" y="11768"/>
                    <a:pt x="1225126" y="32716"/>
                  </a:cubicBezTo>
                  <a:cubicBezTo>
                    <a:pt x="1246074" y="53664"/>
                    <a:pt x="1257842" y="82076"/>
                    <a:pt x="1257842" y="111700"/>
                  </a:cubicBezTo>
                  <a:lnTo>
                    <a:pt x="1257842" y="123229"/>
                  </a:lnTo>
                  <a:cubicBezTo>
                    <a:pt x="1257842" y="152854"/>
                    <a:pt x="1246074" y="181266"/>
                    <a:pt x="1225126" y="202214"/>
                  </a:cubicBezTo>
                  <a:cubicBezTo>
                    <a:pt x="1204178" y="223162"/>
                    <a:pt x="1175766" y="234930"/>
                    <a:pt x="1146142" y="234930"/>
                  </a:cubicBezTo>
                  <a:lnTo>
                    <a:pt x="111700" y="234930"/>
                  </a:lnTo>
                  <a:cubicBezTo>
                    <a:pt x="82076" y="234930"/>
                    <a:pt x="53664" y="223162"/>
                    <a:pt x="32716" y="202214"/>
                  </a:cubicBezTo>
                  <a:cubicBezTo>
                    <a:pt x="11768" y="181266"/>
                    <a:pt x="0" y="152854"/>
                    <a:pt x="0" y="123229"/>
                  </a:cubicBezTo>
                  <a:lnTo>
                    <a:pt x="0" y="111700"/>
                  </a:lnTo>
                  <a:cubicBezTo>
                    <a:pt x="0" y="82076"/>
                    <a:pt x="11768" y="53664"/>
                    <a:pt x="32716" y="32716"/>
                  </a:cubicBezTo>
                  <a:cubicBezTo>
                    <a:pt x="53664" y="11768"/>
                    <a:pt x="82076" y="0"/>
                    <a:pt x="111700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57842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1. Field Identity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53503" y="4388907"/>
            <a:ext cx="3396173" cy="21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Record the field name, description, owner, source table/sheet, and whether it is a key identifier.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793652" y="3097371"/>
            <a:ext cx="4853096" cy="4227883"/>
            <a:chOff x="0" y="0"/>
            <a:chExt cx="6470794" cy="56371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470794" cy="5637178"/>
              <a:chOff x="0" y="0"/>
              <a:chExt cx="1266502" cy="110334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66502" cy="1103342"/>
              </a:xfrm>
              <a:custGeom>
                <a:avLst/>
                <a:gdLst/>
                <a:ahLst/>
                <a:cxnLst/>
                <a:rect r="r" b="b" t="t" l="l"/>
                <a:pathLst>
                  <a:path h="1103342" w="1266502">
                    <a:moveTo>
                      <a:pt x="1142042" y="1103341"/>
                    </a:moveTo>
                    <a:lnTo>
                      <a:pt x="124460" y="1103341"/>
                    </a:lnTo>
                    <a:cubicBezTo>
                      <a:pt x="55880" y="1103341"/>
                      <a:pt x="0" y="1047461"/>
                      <a:pt x="0" y="97888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42042" y="0"/>
                    </a:lnTo>
                    <a:cubicBezTo>
                      <a:pt x="1210622" y="0"/>
                      <a:pt x="1266502" y="55880"/>
                      <a:pt x="1266502" y="124460"/>
                    </a:cubicBezTo>
                    <a:lnTo>
                      <a:pt x="1266502" y="978882"/>
                    </a:lnTo>
                    <a:cubicBezTo>
                      <a:pt x="1266502" y="1047461"/>
                      <a:pt x="1210622" y="1103342"/>
                      <a:pt x="1142042" y="1103342"/>
                    </a:cubicBezTo>
                    <a:close/>
                  </a:path>
                </a:pathLst>
              </a:custGeom>
              <a:solidFill>
                <a:srgbClr val="A2CAD3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-2541254" y="2541254"/>
              <a:ext cx="5637178" cy="554670"/>
              <a:chOff x="0" y="0"/>
              <a:chExt cx="917843" cy="9031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17843" cy="90311"/>
              </a:xfrm>
              <a:custGeom>
                <a:avLst/>
                <a:gdLst/>
                <a:ahLst/>
                <a:cxnLst/>
                <a:rect r="r" b="b" t="t" l="l"/>
                <a:pathLst>
                  <a:path h="90311" w="917843">
                    <a:moveTo>
                      <a:pt x="0" y="0"/>
                    </a:moveTo>
                    <a:lnTo>
                      <a:pt x="917843" y="0"/>
                    </a:lnTo>
                    <a:lnTo>
                      <a:pt x="917843" y="90311"/>
                    </a:lnTo>
                    <a:lnTo>
                      <a:pt x="0" y="90311"/>
                    </a:lnTo>
                    <a:close/>
                  </a:path>
                </a:pathLst>
              </a:custGeom>
              <a:solidFill>
                <a:srgbClr val="1B3A5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917843" cy="1284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063916" y="1737923"/>
              <a:ext cx="5179453" cy="2299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Docum</a:t>
              </a:r>
              <a:r>
                <a:rPr lang="en-US" sz="2499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ent data type, accepted format, example value, unit of measure, and allowed categories.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96536" y="3375501"/>
            <a:ext cx="3640013" cy="632458"/>
            <a:chOff x="0" y="0"/>
            <a:chExt cx="1348153" cy="2342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48153" cy="234244"/>
            </a:xfrm>
            <a:custGeom>
              <a:avLst/>
              <a:gdLst/>
              <a:ahLst/>
              <a:cxnLst/>
              <a:rect r="r" b="b" t="t" l="l"/>
              <a:pathLst>
                <a:path h="234244" w="1348153">
                  <a:moveTo>
                    <a:pt x="104218" y="0"/>
                  </a:moveTo>
                  <a:lnTo>
                    <a:pt x="1243935" y="0"/>
                  </a:lnTo>
                  <a:cubicBezTo>
                    <a:pt x="1271576" y="0"/>
                    <a:pt x="1298084" y="10980"/>
                    <a:pt x="1317628" y="30525"/>
                  </a:cubicBezTo>
                  <a:cubicBezTo>
                    <a:pt x="1337173" y="50069"/>
                    <a:pt x="1348153" y="76578"/>
                    <a:pt x="1348153" y="104218"/>
                  </a:cubicBezTo>
                  <a:lnTo>
                    <a:pt x="1348153" y="130026"/>
                  </a:lnTo>
                  <a:cubicBezTo>
                    <a:pt x="1348153" y="157666"/>
                    <a:pt x="1337173" y="184174"/>
                    <a:pt x="1317628" y="203719"/>
                  </a:cubicBezTo>
                  <a:cubicBezTo>
                    <a:pt x="1298084" y="223264"/>
                    <a:pt x="1271576" y="234244"/>
                    <a:pt x="1243935" y="234244"/>
                  </a:cubicBezTo>
                  <a:lnTo>
                    <a:pt x="104218" y="234244"/>
                  </a:lnTo>
                  <a:cubicBezTo>
                    <a:pt x="76578" y="234244"/>
                    <a:pt x="50069" y="223264"/>
                    <a:pt x="30525" y="203719"/>
                  </a:cubicBezTo>
                  <a:cubicBezTo>
                    <a:pt x="10980" y="184174"/>
                    <a:pt x="0" y="157666"/>
                    <a:pt x="0" y="130026"/>
                  </a:cubicBezTo>
                  <a:lnTo>
                    <a:pt x="0" y="104218"/>
                  </a:lnTo>
                  <a:cubicBezTo>
                    <a:pt x="0" y="76578"/>
                    <a:pt x="10980" y="50069"/>
                    <a:pt x="30525" y="30525"/>
                  </a:cubicBezTo>
                  <a:cubicBezTo>
                    <a:pt x="50069" y="10980"/>
                    <a:pt x="76578" y="0"/>
                    <a:pt x="104218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348153" cy="300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2. Technical Details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58604" y="3097371"/>
            <a:ext cx="4853096" cy="4227883"/>
            <a:chOff x="0" y="0"/>
            <a:chExt cx="1266502" cy="11033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66502" cy="1103342"/>
            </a:xfrm>
            <a:custGeom>
              <a:avLst/>
              <a:gdLst/>
              <a:ahLst/>
              <a:cxnLst/>
              <a:rect r="r" b="b" t="t" l="l"/>
              <a:pathLst>
                <a:path h="1103342" w="1266502">
                  <a:moveTo>
                    <a:pt x="1142042" y="1103341"/>
                  </a:moveTo>
                  <a:lnTo>
                    <a:pt x="124460" y="1103341"/>
                  </a:lnTo>
                  <a:cubicBezTo>
                    <a:pt x="55880" y="1103341"/>
                    <a:pt x="0" y="1047461"/>
                    <a:pt x="0" y="9788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42042" y="0"/>
                  </a:lnTo>
                  <a:cubicBezTo>
                    <a:pt x="1210622" y="0"/>
                    <a:pt x="1266502" y="55880"/>
                    <a:pt x="1266502" y="124460"/>
                  </a:cubicBezTo>
                  <a:lnTo>
                    <a:pt x="1266502" y="978882"/>
                  </a:lnTo>
                  <a:cubicBezTo>
                    <a:pt x="1266502" y="1047461"/>
                    <a:pt x="1210622" y="1103342"/>
                    <a:pt x="1142042" y="1103342"/>
                  </a:cubicBezTo>
                  <a:close/>
                </a:path>
              </a:pathLst>
            </a:custGeom>
            <a:solidFill>
              <a:srgbClr val="A2CAD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-5400000">
            <a:off x="10652664" y="5003312"/>
            <a:ext cx="4227883" cy="416003"/>
            <a:chOff x="0" y="0"/>
            <a:chExt cx="917843" cy="90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7843" cy="90311"/>
            </a:xfrm>
            <a:custGeom>
              <a:avLst/>
              <a:gdLst/>
              <a:ahLst/>
              <a:cxnLst/>
              <a:rect r="r" b="b" t="t" l="l"/>
              <a:pathLst>
                <a:path h="90311" w="917843">
                  <a:moveTo>
                    <a:pt x="0" y="0"/>
                  </a:moveTo>
                  <a:lnTo>
                    <a:pt x="917843" y="0"/>
                  </a:lnTo>
                  <a:lnTo>
                    <a:pt x="917843" y="90311"/>
                  </a:lnTo>
                  <a:lnTo>
                    <a:pt x="0" y="90311"/>
                  </a:lnTo>
                  <a:close/>
                </a:path>
              </a:pathLst>
            </a:custGeom>
            <a:solidFill>
              <a:srgbClr val="1B3A5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17843" cy="128411"/>
            </a:xfrm>
            <a:prstGeom prst="rect">
              <a:avLst/>
            </a:prstGeom>
          </p:spPr>
          <p:txBody>
            <a:bodyPr anchor="ctr" rtlCol="false" tIns="61630" lIns="61630" bIns="61630" rIns="616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483408" y="3375501"/>
            <a:ext cx="3775892" cy="634311"/>
            <a:chOff x="0" y="0"/>
            <a:chExt cx="1398479" cy="2349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8479" cy="234930"/>
            </a:xfrm>
            <a:custGeom>
              <a:avLst/>
              <a:gdLst/>
              <a:ahLst/>
              <a:cxnLst/>
              <a:rect r="r" b="b" t="t" l="l"/>
              <a:pathLst>
                <a:path h="234930" w="1398479">
                  <a:moveTo>
                    <a:pt x="100467" y="0"/>
                  </a:moveTo>
                  <a:lnTo>
                    <a:pt x="1298011" y="0"/>
                  </a:lnTo>
                  <a:cubicBezTo>
                    <a:pt x="1324657" y="0"/>
                    <a:pt x="1350211" y="10585"/>
                    <a:pt x="1369052" y="29426"/>
                  </a:cubicBezTo>
                  <a:cubicBezTo>
                    <a:pt x="1387894" y="48268"/>
                    <a:pt x="1398479" y="73822"/>
                    <a:pt x="1398479" y="100467"/>
                  </a:cubicBezTo>
                  <a:lnTo>
                    <a:pt x="1398479" y="134463"/>
                  </a:lnTo>
                  <a:cubicBezTo>
                    <a:pt x="1398479" y="161108"/>
                    <a:pt x="1387894" y="186662"/>
                    <a:pt x="1369052" y="205504"/>
                  </a:cubicBezTo>
                  <a:cubicBezTo>
                    <a:pt x="1350211" y="224345"/>
                    <a:pt x="1324657" y="234930"/>
                    <a:pt x="1298011" y="234930"/>
                  </a:cubicBezTo>
                  <a:lnTo>
                    <a:pt x="100467" y="234930"/>
                  </a:lnTo>
                  <a:cubicBezTo>
                    <a:pt x="73822" y="234930"/>
                    <a:pt x="48268" y="224345"/>
                    <a:pt x="29426" y="205504"/>
                  </a:cubicBezTo>
                  <a:cubicBezTo>
                    <a:pt x="10585" y="186662"/>
                    <a:pt x="0" y="161108"/>
                    <a:pt x="0" y="134463"/>
                  </a:cubicBezTo>
                  <a:lnTo>
                    <a:pt x="0" y="100467"/>
                  </a:lnTo>
                  <a:cubicBezTo>
                    <a:pt x="0" y="73822"/>
                    <a:pt x="10585" y="48268"/>
                    <a:pt x="29426" y="29426"/>
                  </a:cubicBezTo>
                  <a:cubicBezTo>
                    <a:pt x="48268" y="10585"/>
                    <a:pt x="73822" y="0"/>
                    <a:pt x="100467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398479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3. Readiness Check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555903" y="4388907"/>
            <a:ext cx="3630902" cy="21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Flag</a:t>
            </a: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missing values, sensitivity level, duplicate risks, and cleaning requirements before analysis.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8392055"/>
            <a:ext cx="922693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 reference: Complete the full Data Dictionary in Data Structure Template.xlsx.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28700" y="8810197"/>
            <a:ext cx="9204028" cy="83391"/>
            <a:chOff x="0" y="0"/>
            <a:chExt cx="2424106" cy="219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24106" cy="21963"/>
            </a:xfrm>
            <a:custGeom>
              <a:avLst/>
              <a:gdLst/>
              <a:ahLst/>
              <a:cxnLst/>
              <a:rect r="r" b="b" t="t" l="l"/>
              <a:pathLst>
                <a:path h="21963" w="2424106">
                  <a:moveTo>
                    <a:pt x="0" y="0"/>
                  </a:moveTo>
                  <a:lnTo>
                    <a:pt x="2424106" y="0"/>
                  </a:lnTo>
                  <a:lnTo>
                    <a:pt x="242410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424106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5100"/>
            <a:ext cx="8320686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Dictionary Reference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557" y="1524630"/>
            <a:ext cx="8169443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the Excel companion file for detailed field-level documentation.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3935" y="1909081"/>
            <a:ext cx="8000559" cy="83391"/>
            <a:chOff x="0" y="0"/>
            <a:chExt cx="2107143" cy="21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7143" cy="21963"/>
            </a:xfrm>
            <a:custGeom>
              <a:avLst/>
              <a:gdLst/>
              <a:ahLst/>
              <a:cxnLst/>
              <a:rect r="r" b="b" t="t" l="l"/>
              <a:pathLst>
                <a:path h="21963" w="2107143">
                  <a:moveTo>
                    <a:pt x="0" y="0"/>
                  </a:moveTo>
                  <a:lnTo>
                    <a:pt x="2107143" y="0"/>
                  </a:lnTo>
                  <a:lnTo>
                    <a:pt x="2107143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7143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2893" y="2354421"/>
            <a:ext cx="8115300" cy="2614869"/>
            <a:chOff x="0" y="0"/>
            <a:chExt cx="10820400" cy="348649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820400" cy="3484665"/>
              <a:chOff x="0" y="0"/>
              <a:chExt cx="2118943" cy="68239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18943" cy="682397"/>
              </a:xfrm>
              <a:custGeom>
                <a:avLst/>
                <a:gdLst/>
                <a:ahLst/>
                <a:cxnLst/>
                <a:rect r="r" b="b" t="t" l="l"/>
                <a:pathLst>
                  <a:path h="682397" w="2118943">
                    <a:moveTo>
                      <a:pt x="1994483" y="682397"/>
                    </a:moveTo>
                    <a:lnTo>
                      <a:pt x="124460" y="682397"/>
                    </a:lnTo>
                    <a:cubicBezTo>
                      <a:pt x="55880" y="682397"/>
                      <a:pt x="0" y="626517"/>
                      <a:pt x="0" y="55793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994483" y="0"/>
                    </a:lnTo>
                    <a:cubicBezTo>
                      <a:pt x="2063063" y="0"/>
                      <a:pt x="2118943" y="55880"/>
                      <a:pt x="2118943" y="124460"/>
                    </a:cubicBezTo>
                    <a:lnTo>
                      <a:pt x="2118943" y="557937"/>
                    </a:lnTo>
                    <a:cubicBezTo>
                      <a:pt x="2118943" y="626517"/>
                      <a:pt x="2063063" y="682397"/>
                      <a:pt x="1994483" y="682397"/>
                    </a:cubicBezTo>
                    <a:close/>
                  </a:path>
                </a:pathLst>
              </a:custGeom>
              <a:solidFill>
                <a:srgbClr val="A2CAD3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-1279246" y="1279246"/>
              <a:ext cx="3486492" cy="928001"/>
              <a:chOff x="0" y="0"/>
              <a:chExt cx="567669" cy="151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67669" cy="151097"/>
              </a:xfrm>
              <a:custGeom>
                <a:avLst/>
                <a:gdLst/>
                <a:ahLst/>
                <a:cxnLst/>
                <a:rect r="r" b="b" t="t" l="l"/>
                <a:pathLst>
                  <a:path h="151097" w="567669">
                    <a:moveTo>
                      <a:pt x="0" y="0"/>
                    </a:moveTo>
                    <a:lnTo>
                      <a:pt x="567669" y="0"/>
                    </a:lnTo>
                    <a:lnTo>
                      <a:pt x="567669" y="151097"/>
                    </a:lnTo>
                    <a:lnTo>
                      <a:pt x="0" y="151097"/>
                    </a:lnTo>
                    <a:close/>
                  </a:path>
                </a:pathLst>
              </a:custGeom>
              <a:solidFill>
                <a:srgbClr val="1B3A5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67669" cy="189197"/>
              </a:xfrm>
              <a:prstGeom prst="rect">
                <a:avLst/>
              </a:prstGeom>
            </p:spPr>
            <p:txBody>
              <a:bodyPr anchor="ctr" rtlCol="false" tIns="61630" lIns="61630" bIns="61630" rIns="6163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668462" y="2516800"/>
            <a:ext cx="5244796" cy="634311"/>
            <a:chOff x="0" y="0"/>
            <a:chExt cx="1942517" cy="234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2517" cy="234930"/>
            </a:xfrm>
            <a:custGeom>
              <a:avLst/>
              <a:gdLst/>
              <a:ahLst/>
              <a:cxnLst/>
              <a:rect r="r" b="b" t="t" l="l"/>
              <a:pathLst>
                <a:path h="234930" w="1942517">
                  <a:moveTo>
                    <a:pt x="72330" y="0"/>
                  </a:moveTo>
                  <a:lnTo>
                    <a:pt x="1870187" y="0"/>
                  </a:lnTo>
                  <a:cubicBezTo>
                    <a:pt x="1889371" y="0"/>
                    <a:pt x="1907768" y="7620"/>
                    <a:pt x="1921332" y="21185"/>
                  </a:cubicBezTo>
                  <a:cubicBezTo>
                    <a:pt x="1934897" y="34749"/>
                    <a:pt x="1942517" y="53147"/>
                    <a:pt x="1942517" y="72330"/>
                  </a:cubicBezTo>
                  <a:lnTo>
                    <a:pt x="1942517" y="162600"/>
                  </a:lnTo>
                  <a:cubicBezTo>
                    <a:pt x="1942517" y="181783"/>
                    <a:pt x="1934897" y="200181"/>
                    <a:pt x="1921332" y="213745"/>
                  </a:cubicBezTo>
                  <a:cubicBezTo>
                    <a:pt x="1907768" y="227310"/>
                    <a:pt x="1889371" y="234930"/>
                    <a:pt x="1870187" y="234930"/>
                  </a:cubicBezTo>
                  <a:lnTo>
                    <a:pt x="72330" y="234930"/>
                  </a:lnTo>
                  <a:cubicBezTo>
                    <a:pt x="53147" y="234930"/>
                    <a:pt x="34749" y="227310"/>
                    <a:pt x="21185" y="213745"/>
                  </a:cubicBezTo>
                  <a:cubicBezTo>
                    <a:pt x="7620" y="200181"/>
                    <a:pt x="0" y="181783"/>
                    <a:pt x="0" y="162600"/>
                  </a:cubicBezTo>
                  <a:lnTo>
                    <a:pt x="0" y="72330"/>
                  </a:lnTo>
                  <a:cubicBezTo>
                    <a:pt x="0" y="53147"/>
                    <a:pt x="7620" y="34749"/>
                    <a:pt x="21185" y="21185"/>
                  </a:cubicBezTo>
                  <a:cubicBezTo>
                    <a:pt x="34749" y="7620"/>
                    <a:pt x="53147" y="0"/>
                    <a:pt x="72330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942517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Missing Values &amp; Duplicates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90564" y="3465436"/>
            <a:ext cx="6748143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</a:t>
            </a: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entify affected fields, duplicate records, and the expected treatment before analysis.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2893" y="8332661"/>
            <a:ext cx="115790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come: A cleaner and better-prepared dataset for analysis, AI modelling, dashboarding, or reporting.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2893" y="8814007"/>
            <a:ext cx="11555957" cy="83391"/>
            <a:chOff x="0" y="0"/>
            <a:chExt cx="3043544" cy="219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3544" cy="21963"/>
            </a:xfrm>
            <a:custGeom>
              <a:avLst/>
              <a:gdLst/>
              <a:ahLst/>
              <a:cxnLst/>
              <a:rect r="r" b="b" t="t" l="l"/>
              <a:pathLst>
                <a:path h="21963" w="3043544">
                  <a:moveTo>
                    <a:pt x="0" y="0"/>
                  </a:moveTo>
                  <a:lnTo>
                    <a:pt x="3043544" y="0"/>
                  </a:lnTo>
                  <a:lnTo>
                    <a:pt x="3043544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043544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09807" y="2354421"/>
            <a:ext cx="8115300" cy="2613499"/>
            <a:chOff x="0" y="0"/>
            <a:chExt cx="2118943" cy="6823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18943" cy="682397"/>
            </a:xfrm>
            <a:custGeom>
              <a:avLst/>
              <a:gdLst/>
              <a:ahLst/>
              <a:cxnLst/>
              <a:rect r="r" b="b" t="t" l="l"/>
              <a:pathLst>
                <a:path h="682397" w="2118943">
                  <a:moveTo>
                    <a:pt x="1994483" y="682397"/>
                  </a:moveTo>
                  <a:lnTo>
                    <a:pt x="124460" y="682397"/>
                  </a:lnTo>
                  <a:cubicBezTo>
                    <a:pt x="55880" y="682397"/>
                    <a:pt x="0" y="626517"/>
                    <a:pt x="0" y="5579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994483" y="0"/>
                  </a:lnTo>
                  <a:cubicBezTo>
                    <a:pt x="2063063" y="0"/>
                    <a:pt x="2118943" y="55880"/>
                    <a:pt x="2118943" y="124460"/>
                  </a:cubicBezTo>
                  <a:lnTo>
                    <a:pt x="2118943" y="557937"/>
                  </a:lnTo>
                  <a:cubicBezTo>
                    <a:pt x="2118943" y="626517"/>
                    <a:pt x="2063063" y="682397"/>
                    <a:pt x="1994483" y="682397"/>
                  </a:cubicBezTo>
                  <a:close/>
                </a:path>
              </a:pathLst>
            </a:custGeom>
            <a:solidFill>
              <a:srgbClr val="99C1C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-5400000">
            <a:off x="8450373" y="3313856"/>
            <a:ext cx="2614869" cy="696001"/>
            <a:chOff x="0" y="0"/>
            <a:chExt cx="567669" cy="1510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7669" cy="151097"/>
            </a:xfrm>
            <a:custGeom>
              <a:avLst/>
              <a:gdLst/>
              <a:ahLst/>
              <a:cxnLst/>
              <a:rect r="r" b="b" t="t" l="l"/>
              <a:pathLst>
                <a:path h="151097" w="567669">
                  <a:moveTo>
                    <a:pt x="0" y="0"/>
                  </a:moveTo>
                  <a:lnTo>
                    <a:pt x="567669" y="0"/>
                  </a:lnTo>
                  <a:lnTo>
                    <a:pt x="567669" y="151097"/>
                  </a:lnTo>
                  <a:lnTo>
                    <a:pt x="0" y="151097"/>
                  </a:lnTo>
                  <a:close/>
                </a:path>
              </a:pathLst>
            </a:custGeom>
            <a:solidFill>
              <a:srgbClr val="1B3A5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67669" cy="189197"/>
            </a:xfrm>
            <a:prstGeom prst="rect">
              <a:avLst/>
            </a:prstGeom>
          </p:spPr>
          <p:txBody>
            <a:bodyPr anchor="ctr" rtlCol="false" tIns="61630" lIns="61630" bIns="61630" rIns="616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15376" y="2516800"/>
            <a:ext cx="4465475" cy="634311"/>
            <a:chOff x="0" y="0"/>
            <a:chExt cx="1653880" cy="2349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3880" cy="234930"/>
            </a:xfrm>
            <a:custGeom>
              <a:avLst/>
              <a:gdLst/>
              <a:ahLst/>
              <a:cxnLst/>
              <a:rect r="r" b="b" t="t" l="l"/>
              <a:pathLst>
                <a:path h="234930" w="1653880">
                  <a:moveTo>
                    <a:pt x="84953" y="0"/>
                  </a:moveTo>
                  <a:lnTo>
                    <a:pt x="1568927" y="0"/>
                  </a:lnTo>
                  <a:cubicBezTo>
                    <a:pt x="1591458" y="0"/>
                    <a:pt x="1613066" y="8950"/>
                    <a:pt x="1628998" y="24882"/>
                  </a:cubicBezTo>
                  <a:cubicBezTo>
                    <a:pt x="1644929" y="40814"/>
                    <a:pt x="1653880" y="62422"/>
                    <a:pt x="1653880" y="84953"/>
                  </a:cubicBezTo>
                  <a:lnTo>
                    <a:pt x="1653880" y="149977"/>
                  </a:lnTo>
                  <a:cubicBezTo>
                    <a:pt x="1653880" y="196895"/>
                    <a:pt x="1615845" y="234930"/>
                    <a:pt x="1568927" y="234930"/>
                  </a:cubicBezTo>
                  <a:lnTo>
                    <a:pt x="84953" y="234930"/>
                  </a:lnTo>
                  <a:cubicBezTo>
                    <a:pt x="62422" y="234930"/>
                    <a:pt x="40814" y="225980"/>
                    <a:pt x="24882" y="210048"/>
                  </a:cubicBezTo>
                  <a:cubicBezTo>
                    <a:pt x="8950" y="194116"/>
                    <a:pt x="0" y="172508"/>
                    <a:pt x="0" y="149977"/>
                  </a:cubicBezTo>
                  <a:lnTo>
                    <a:pt x="0" y="84953"/>
                  </a:lnTo>
                  <a:cubicBezTo>
                    <a:pt x="0" y="38035"/>
                    <a:pt x="38035" y="0"/>
                    <a:pt x="84953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653880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Format Consistency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315376" y="3465436"/>
            <a:ext cx="6748143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</a:t>
            </a: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eck dates, numbers stored as text, category spelling, units, and naming conventions.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62893" y="5205685"/>
            <a:ext cx="8115300" cy="2614869"/>
            <a:chOff x="0" y="0"/>
            <a:chExt cx="10820400" cy="3486492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0820400" cy="3484665"/>
              <a:chOff x="0" y="0"/>
              <a:chExt cx="2118943" cy="68239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18943" cy="682397"/>
              </a:xfrm>
              <a:custGeom>
                <a:avLst/>
                <a:gdLst/>
                <a:ahLst/>
                <a:cxnLst/>
                <a:rect r="r" b="b" t="t" l="l"/>
                <a:pathLst>
                  <a:path h="682397" w="2118943">
                    <a:moveTo>
                      <a:pt x="1994483" y="682397"/>
                    </a:moveTo>
                    <a:lnTo>
                      <a:pt x="124460" y="682397"/>
                    </a:lnTo>
                    <a:cubicBezTo>
                      <a:pt x="55880" y="682397"/>
                      <a:pt x="0" y="626517"/>
                      <a:pt x="0" y="55793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994483" y="0"/>
                    </a:lnTo>
                    <a:cubicBezTo>
                      <a:pt x="2063063" y="0"/>
                      <a:pt x="2118943" y="55880"/>
                      <a:pt x="2118943" y="124460"/>
                    </a:cubicBezTo>
                    <a:lnTo>
                      <a:pt x="2118943" y="557937"/>
                    </a:lnTo>
                    <a:cubicBezTo>
                      <a:pt x="2118943" y="626517"/>
                      <a:pt x="2063063" y="682397"/>
                      <a:pt x="1994483" y="682397"/>
                    </a:cubicBezTo>
                    <a:close/>
                  </a:path>
                </a:pathLst>
              </a:custGeom>
              <a:solidFill>
                <a:srgbClr val="A2CAD3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-5400000">
              <a:off x="-1279246" y="1279246"/>
              <a:ext cx="3486492" cy="928001"/>
              <a:chOff x="0" y="0"/>
              <a:chExt cx="567669" cy="1510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67669" cy="151097"/>
              </a:xfrm>
              <a:custGeom>
                <a:avLst/>
                <a:gdLst/>
                <a:ahLst/>
                <a:cxnLst/>
                <a:rect r="r" b="b" t="t" l="l"/>
                <a:pathLst>
                  <a:path h="151097" w="567669">
                    <a:moveTo>
                      <a:pt x="0" y="0"/>
                    </a:moveTo>
                    <a:lnTo>
                      <a:pt x="567669" y="0"/>
                    </a:lnTo>
                    <a:lnTo>
                      <a:pt x="567669" y="151097"/>
                    </a:lnTo>
                    <a:lnTo>
                      <a:pt x="0" y="151097"/>
                    </a:lnTo>
                    <a:close/>
                  </a:path>
                </a:pathLst>
              </a:custGeom>
              <a:solidFill>
                <a:srgbClr val="1B3A5C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567669" cy="189197"/>
              </a:xfrm>
              <a:prstGeom prst="rect">
                <a:avLst/>
              </a:prstGeom>
            </p:spPr>
            <p:txBody>
              <a:bodyPr anchor="ctr" rtlCol="false" tIns="61630" lIns="61630" bIns="61630" rIns="6163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1690564" y="5402110"/>
            <a:ext cx="4084876" cy="634311"/>
            <a:chOff x="0" y="0"/>
            <a:chExt cx="1512917" cy="2349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12917" cy="234930"/>
            </a:xfrm>
            <a:custGeom>
              <a:avLst/>
              <a:gdLst/>
              <a:ahLst/>
              <a:cxnLst/>
              <a:rect r="r" b="b" t="t" l="l"/>
              <a:pathLst>
                <a:path h="234930" w="1512917">
                  <a:moveTo>
                    <a:pt x="92868" y="0"/>
                  </a:moveTo>
                  <a:lnTo>
                    <a:pt x="1420049" y="0"/>
                  </a:lnTo>
                  <a:cubicBezTo>
                    <a:pt x="1444679" y="0"/>
                    <a:pt x="1468301" y="9784"/>
                    <a:pt x="1485717" y="27200"/>
                  </a:cubicBezTo>
                  <a:cubicBezTo>
                    <a:pt x="1503133" y="44617"/>
                    <a:pt x="1512917" y="68238"/>
                    <a:pt x="1512917" y="92868"/>
                  </a:cubicBezTo>
                  <a:lnTo>
                    <a:pt x="1512917" y="142062"/>
                  </a:lnTo>
                  <a:cubicBezTo>
                    <a:pt x="1512917" y="166692"/>
                    <a:pt x="1503133" y="190313"/>
                    <a:pt x="1485717" y="207730"/>
                  </a:cubicBezTo>
                  <a:cubicBezTo>
                    <a:pt x="1468301" y="225146"/>
                    <a:pt x="1444679" y="234930"/>
                    <a:pt x="1420049" y="234930"/>
                  </a:cubicBezTo>
                  <a:lnTo>
                    <a:pt x="92868" y="234930"/>
                  </a:lnTo>
                  <a:cubicBezTo>
                    <a:pt x="68238" y="234930"/>
                    <a:pt x="44617" y="225146"/>
                    <a:pt x="27200" y="207730"/>
                  </a:cubicBezTo>
                  <a:cubicBezTo>
                    <a:pt x="9784" y="190313"/>
                    <a:pt x="0" y="166692"/>
                    <a:pt x="0" y="142062"/>
                  </a:cubicBezTo>
                  <a:lnTo>
                    <a:pt x="0" y="92868"/>
                  </a:lnTo>
                  <a:cubicBezTo>
                    <a:pt x="0" y="68238"/>
                    <a:pt x="9784" y="44617"/>
                    <a:pt x="27200" y="27200"/>
                  </a:cubicBezTo>
                  <a:cubicBezTo>
                    <a:pt x="44617" y="9784"/>
                    <a:pt x="68238" y="0"/>
                    <a:pt x="92868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512917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Outliers &amp; Anomalies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68462" y="6350746"/>
            <a:ext cx="6748143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Review extreme values and decide whether to correct, remove, cap, or explain them.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409807" y="5205685"/>
            <a:ext cx="8115300" cy="2614869"/>
            <a:chOff x="0" y="0"/>
            <a:chExt cx="10820400" cy="3486492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820400" cy="3484665"/>
              <a:chOff x="0" y="0"/>
              <a:chExt cx="2118943" cy="68239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18943" cy="682397"/>
              </a:xfrm>
              <a:custGeom>
                <a:avLst/>
                <a:gdLst/>
                <a:ahLst/>
                <a:cxnLst/>
                <a:rect r="r" b="b" t="t" l="l"/>
                <a:pathLst>
                  <a:path h="682397" w="2118943">
                    <a:moveTo>
                      <a:pt x="1994483" y="682397"/>
                    </a:moveTo>
                    <a:lnTo>
                      <a:pt x="124460" y="682397"/>
                    </a:lnTo>
                    <a:cubicBezTo>
                      <a:pt x="55880" y="682397"/>
                      <a:pt x="0" y="626517"/>
                      <a:pt x="0" y="55793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994483" y="0"/>
                    </a:lnTo>
                    <a:cubicBezTo>
                      <a:pt x="2063063" y="0"/>
                      <a:pt x="2118943" y="55880"/>
                      <a:pt x="2118943" y="124460"/>
                    </a:cubicBezTo>
                    <a:lnTo>
                      <a:pt x="2118943" y="557937"/>
                    </a:lnTo>
                    <a:cubicBezTo>
                      <a:pt x="2118943" y="626517"/>
                      <a:pt x="2063063" y="682397"/>
                      <a:pt x="1994483" y="682397"/>
                    </a:cubicBezTo>
                    <a:close/>
                  </a:path>
                </a:pathLst>
              </a:custGeom>
              <a:solidFill>
                <a:srgbClr val="A2CAD3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-1279246" y="1279246"/>
              <a:ext cx="3486492" cy="928001"/>
              <a:chOff x="0" y="0"/>
              <a:chExt cx="567669" cy="15109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67669" cy="151097"/>
              </a:xfrm>
              <a:custGeom>
                <a:avLst/>
                <a:gdLst/>
                <a:ahLst/>
                <a:cxnLst/>
                <a:rect r="r" b="b" t="t" l="l"/>
                <a:pathLst>
                  <a:path h="151097" w="567669">
                    <a:moveTo>
                      <a:pt x="0" y="0"/>
                    </a:moveTo>
                    <a:lnTo>
                      <a:pt x="567669" y="0"/>
                    </a:lnTo>
                    <a:lnTo>
                      <a:pt x="567669" y="151097"/>
                    </a:lnTo>
                    <a:lnTo>
                      <a:pt x="0" y="151097"/>
                    </a:lnTo>
                    <a:close/>
                  </a:path>
                </a:pathLst>
              </a:custGeom>
              <a:solidFill>
                <a:srgbClr val="1B3A5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67669" cy="189197"/>
              </a:xfrm>
              <a:prstGeom prst="rect">
                <a:avLst/>
              </a:prstGeom>
            </p:spPr>
            <p:txBody>
              <a:bodyPr anchor="ctr" rtlCol="false" tIns="61630" lIns="61630" bIns="61630" rIns="6163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0315376" y="5368064"/>
            <a:ext cx="4338609" cy="634311"/>
            <a:chOff x="0" y="0"/>
            <a:chExt cx="1606892" cy="2349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06892" cy="234930"/>
            </a:xfrm>
            <a:custGeom>
              <a:avLst/>
              <a:gdLst/>
              <a:ahLst/>
              <a:cxnLst/>
              <a:rect r="r" b="b" t="t" l="l"/>
              <a:pathLst>
                <a:path h="234930" w="1606892">
                  <a:moveTo>
                    <a:pt x="87437" y="0"/>
                  </a:moveTo>
                  <a:lnTo>
                    <a:pt x="1519455" y="0"/>
                  </a:lnTo>
                  <a:cubicBezTo>
                    <a:pt x="1567745" y="0"/>
                    <a:pt x="1606892" y="39147"/>
                    <a:pt x="1606892" y="87437"/>
                  </a:cubicBezTo>
                  <a:lnTo>
                    <a:pt x="1606892" y="147493"/>
                  </a:lnTo>
                  <a:cubicBezTo>
                    <a:pt x="1606892" y="170683"/>
                    <a:pt x="1597680" y="192923"/>
                    <a:pt x="1581282" y="209320"/>
                  </a:cubicBezTo>
                  <a:cubicBezTo>
                    <a:pt x="1564885" y="225718"/>
                    <a:pt x="1542645" y="234930"/>
                    <a:pt x="1519455" y="234930"/>
                  </a:cubicBezTo>
                  <a:lnTo>
                    <a:pt x="87437" y="234930"/>
                  </a:lnTo>
                  <a:cubicBezTo>
                    <a:pt x="64247" y="234930"/>
                    <a:pt x="42007" y="225718"/>
                    <a:pt x="25610" y="209320"/>
                  </a:cubicBezTo>
                  <a:cubicBezTo>
                    <a:pt x="9212" y="192923"/>
                    <a:pt x="0" y="170683"/>
                    <a:pt x="0" y="147493"/>
                  </a:cubicBezTo>
                  <a:lnTo>
                    <a:pt x="0" y="87437"/>
                  </a:lnTo>
                  <a:cubicBezTo>
                    <a:pt x="0" y="64247"/>
                    <a:pt x="9212" y="42007"/>
                    <a:pt x="25610" y="25610"/>
                  </a:cubicBezTo>
                  <a:cubicBezTo>
                    <a:pt x="42007" y="9212"/>
                    <a:pt x="64247" y="0"/>
                    <a:pt x="87437" y="0"/>
                  </a:cubicBezTo>
                  <a:close/>
                </a:path>
              </a:pathLst>
            </a:custGeom>
            <a:solidFill>
              <a:srgbClr val="CBD8E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606892" cy="30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Integration Readiness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315376" y="6465495"/>
            <a:ext cx="6943924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onfirm source joins, sampling method, refresh frequency, access limits, and confidentiality level.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02509"/>
            <a:chOff x="0" y="0"/>
            <a:chExt cx="4816593" cy="316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6710"/>
            </a:xfrm>
            <a:custGeom>
              <a:avLst/>
              <a:gdLst/>
              <a:ahLst/>
              <a:cxnLst/>
              <a:rect r="r" b="b" t="t" l="l"/>
              <a:pathLst>
                <a:path h="316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720" y="173809"/>
            <a:ext cx="2249731" cy="1028700"/>
          </a:xfrm>
          <a:custGeom>
            <a:avLst/>
            <a:gdLst/>
            <a:ahLst/>
            <a:cxnLst/>
            <a:rect r="r" b="b" t="t" l="l"/>
            <a:pathLst>
              <a:path h="1028700" w="2249731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97" r="0" b="-546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700825"/>
            <a:ext cx="18288000" cy="128116"/>
            <a:chOff x="0" y="0"/>
            <a:chExt cx="4816593" cy="33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3742"/>
            </a:xfrm>
            <a:custGeom>
              <a:avLst/>
              <a:gdLst/>
              <a:ahLst/>
              <a:cxnLst/>
              <a:rect r="r" b="b" t="t" l="l"/>
              <a:pathLst>
                <a:path h="337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5100"/>
            <a:ext cx="6814553" cy="8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Processing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557" y="1524630"/>
            <a:ext cx="7433327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Illustrate</a:t>
            </a: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overall journey from source data to final output.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3935" y="1909081"/>
            <a:ext cx="7291553" cy="83391"/>
            <a:chOff x="0" y="0"/>
            <a:chExt cx="1920409" cy="21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409" cy="21963"/>
            </a:xfrm>
            <a:custGeom>
              <a:avLst/>
              <a:gdLst/>
              <a:ahLst/>
              <a:cxnLst/>
              <a:rect r="r" b="b" t="t" l="l"/>
              <a:pathLst>
                <a:path h="21963" w="1920409">
                  <a:moveTo>
                    <a:pt x="0" y="0"/>
                  </a:moveTo>
                  <a:lnTo>
                    <a:pt x="1920409" y="0"/>
                  </a:lnTo>
                  <a:lnTo>
                    <a:pt x="192040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true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20409" cy="6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918286" y="2525871"/>
          <a:ext cx="16451428" cy="6145231"/>
        </p:xfrm>
        <a:graphic>
          <a:graphicData uri="http://schemas.openxmlformats.org/drawingml/2006/table">
            <a:tbl>
              <a:tblPr/>
              <a:tblGrid>
                <a:gridCol w="2763366"/>
                <a:gridCol w="2724671"/>
                <a:gridCol w="2724671"/>
                <a:gridCol w="2724671"/>
                <a:gridCol w="2724671"/>
                <a:gridCol w="2789377"/>
              </a:tblGrid>
              <a:tr h="997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Source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Collection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 / Tool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Output / Report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Cleaning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Analysis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1286656"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Name source system file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data is accessed /exported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Tool, model, or platform used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Final report, dashboard, or AI output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Main preparation steps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Analysis or modelling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286656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Name source system file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data is accessed /exported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Tool, model, or platform used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Final report, dashboard, or AI output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Main preparation steps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Analysis or modelling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173365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Name source system file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data is accessed /exported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Tool, model, or platform used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Final report, dashboard, or AI output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Main preparation steps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Analysis or modelling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401150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Name source system file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data is accessed /exported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Tool, model, or platform used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Final report, dashboard, or AI output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Main preparation steps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true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Analysis or modelling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15312" y="478275"/>
            <a:ext cx="3411600" cy="1559970"/>
          </a:xfrm>
          <a:custGeom>
            <a:avLst/>
            <a:gdLst/>
            <a:ahLst/>
            <a:cxnLst/>
            <a:rect r="r" b="b" t="t" l="l"/>
            <a:pathLst>
              <a:path h="1559970" w="341160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997" r="0" b="-546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87851" y="2921793"/>
            <a:ext cx="6665443" cy="383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b="true" sz="11977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b="true" sz="11977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38702" y="9700825"/>
            <a:ext cx="9349298" cy="128116"/>
            <a:chOff x="0" y="0"/>
            <a:chExt cx="2462367" cy="33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2367" cy="33742"/>
            </a:xfrm>
            <a:custGeom>
              <a:avLst/>
              <a:gdLst/>
              <a:ahLst/>
              <a:cxnLst/>
              <a:rect r="r" b="b" t="t" l="l"/>
              <a:pathLst>
                <a:path h="33742" w="2462367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626382" y="9075907"/>
            <a:ext cx="449144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DAHIY0RNI8s</dc:identifier>
  <dcterms:modified xsi:type="dcterms:W3CDTF">2011-08-01T06:04:30Z</dcterms:modified>
  <cp:revision>1</cp:revision>
  <dc:title>Data Description  TEMPLATE</dc:title>
</cp:coreProperties>
</file>