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randir Wide Bold" panose="020B0604020202020204" charset="0"/>
      <p:regular r:id="rId12"/>
    </p:embeddedFont>
    <p:embeddedFont>
      <p:font typeface="Arimo Italics" panose="020B0604020202020204" charset="0"/>
      <p:regular r:id="rId13"/>
    </p:embeddedFont>
    <p:embeddedFont>
      <p:font typeface="Bricolage Grotesque" panose="020B0604020202020204" charset="0"/>
      <p:regular r:id="rId14"/>
    </p:embeddedFont>
    <p:embeddedFont>
      <p:font typeface="Bricolage Grotesque Bold" panose="020B0604020202020204" charset="0"/>
      <p:regular r:id="rId15"/>
    </p:embeddedFont>
    <p:embeddedFont>
      <p:font typeface="Canva Student Font" panose="020B0604020202020204" charset="0"/>
      <p:regular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Bold" panose="020B0806030504020204" pitchFamily="34" charset="0"/>
      <p:regular r:id="rId21"/>
      <p:bold r:id="rId22"/>
    </p:embeddedFont>
    <p:embeddedFont>
      <p:font typeface="Open Sans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6687239"/>
            <a:ext cx="930729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Expectation Summary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397" y="8262045"/>
            <a:ext cx="99605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Summarise the expected output, scope, ROI, and improvement impact of your AI project.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9960525" cy="83391"/>
            <a:chOff x="0" y="0"/>
            <a:chExt cx="2623348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23348" cy="21963"/>
            </a:xfrm>
            <a:custGeom>
              <a:avLst/>
              <a:gdLst/>
              <a:ahLst/>
              <a:cxnLst/>
              <a:rect l="l" t="t" r="r" b="b"/>
              <a:pathLst>
                <a:path w="2623348" h="21963">
                  <a:moveTo>
                    <a:pt x="0" y="0"/>
                  </a:moveTo>
                  <a:lnTo>
                    <a:pt x="2623348" y="0"/>
                  </a:lnTo>
                  <a:lnTo>
                    <a:pt x="2623348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23348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0" y="9700239"/>
            <a:ext cx="18288000" cy="128116"/>
            <a:chOff x="0" y="0"/>
            <a:chExt cx="4816593" cy="3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74" y="165100"/>
            <a:ext cx="737354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Requirement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85599"/>
            <a:ext cx="12652639" cy="38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template helps define the AI project deliverables, success measures, and expected ROI.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909081"/>
            <a:ext cx="12406621" cy="83391"/>
            <a:chOff x="0" y="0"/>
            <a:chExt cx="3267587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67587" cy="21963"/>
            </a:xfrm>
            <a:custGeom>
              <a:avLst/>
              <a:gdLst/>
              <a:ahLst/>
              <a:cxnLst/>
              <a:rect l="l" t="t" r="r" b="b"/>
              <a:pathLst>
                <a:path w="3267587" h="21963">
                  <a:moveTo>
                    <a:pt x="0" y="0"/>
                  </a:moveTo>
                  <a:lnTo>
                    <a:pt x="3267587" y="0"/>
                  </a:lnTo>
                  <a:lnTo>
                    <a:pt x="3267587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267587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028774" y="2574824"/>
          <a:ext cx="16230600" cy="5467350"/>
        </p:xfrm>
        <a:graphic>
          <a:graphicData uri="http://schemas.openxmlformats.org/drawingml/2006/table">
            <a:tbl>
              <a:tblPr/>
              <a:tblGrid>
                <a:gridCol w="162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 the project scope — what is included and what is excluded.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 the key deliverables — the specific outputs or products the project will produce.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Describe the expected output — what will the AI solution look like when done?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Estimate the ROI — calculate the return based on cost savings and efficiency gains.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Quantify cost and time reduction where possible.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Identify any limitations or assumptions that could affect delivery.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the Final Agreement page to document stakeholder sign-off and next actions.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10139886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Scope &amp; Expectation Worksheet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18598" y="1333574"/>
          <a:ext cx="16442048" cy="4111054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49">
                <a:tc gridSpan="2"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Scope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Scope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341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 Scope — What this project WILL deliver: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OUT of Scope — What this project will NOT include: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5B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20">
                <a:tc rowSpan="6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20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18598" y="6107624"/>
          <a:ext cx="16442048" cy="2526500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772">
                <a:tc gridSpan="2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Assumptions: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Assumptions: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8">
                <a:tc rowSpan="6" gridSpan="2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8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52197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Deliverables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575432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 every deliverable this project must produce.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5680648" cy="83391"/>
            <a:chOff x="0" y="0"/>
            <a:chExt cx="1496138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6138" cy="21963"/>
            </a:xfrm>
            <a:custGeom>
              <a:avLst/>
              <a:gdLst/>
              <a:ahLst/>
              <a:cxnLst/>
              <a:rect l="l" t="t" r="r" b="b"/>
              <a:pathLst>
                <a:path w="1496138" h="21963">
                  <a:moveTo>
                    <a:pt x="0" y="0"/>
                  </a:moveTo>
                  <a:lnTo>
                    <a:pt x="1496138" y="0"/>
                  </a:lnTo>
                  <a:lnTo>
                    <a:pt x="1496138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6138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025581"/>
              </p:ext>
            </p:extLst>
          </p:nvPr>
        </p:nvGraphicFramePr>
        <p:xfrm>
          <a:off x="922976" y="2697321"/>
          <a:ext cx="16442048" cy="6115052"/>
        </p:xfrm>
        <a:graphic>
          <a:graphicData uri="http://schemas.openxmlformats.org/drawingml/2006/table">
            <a:tbl>
              <a:tblPr/>
              <a:tblGrid>
                <a:gridCol w="524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9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3772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#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Deliverable Name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 dirty="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Responsible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3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Due Date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7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5361694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Expected 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9252616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what the completed AI solution will look like and how it will be used.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9166720" cy="83391"/>
            <a:chOff x="0" y="0"/>
            <a:chExt cx="2414280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14280" cy="21963"/>
            </a:xfrm>
            <a:custGeom>
              <a:avLst/>
              <a:gdLst/>
              <a:ahLst/>
              <a:cxnLst/>
              <a:rect l="l" t="t" r="r" b="b"/>
              <a:pathLst>
                <a:path w="2414280" h="21963">
                  <a:moveTo>
                    <a:pt x="0" y="0"/>
                  </a:moveTo>
                  <a:lnTo>
                    <a:pt x="2414280" y="0"/>
                  </a:lnTo>
                  <a:lnTo>
                    <a:pt x="241428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1428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354421"/>
          <a:ext cx="8056374" cy="7092144"/>
        </p:xfrm>
        <a:graphic>
          <a:graphicData uri="http://schemas.openxmlformats.org/drawingml/2006/table">
            <a:tbl>
              <a:tblPr/>
              <a:tblGrid>
                <a:gridCol w="80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4339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will users see or interact with?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4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Dashboard, report, chatbot, alert system, automated workflow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339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How will the output be accessed?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353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Web browser, mobile app, email, integrated into existing system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339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How often will the output be generated?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353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Real-time, daily, weekly, on-demand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9424599" y="2354421"/>
          <a:ext cx="8056374" cy="4613908"/>
        </p:xfrm>
        <a:graphic>
          <a:graphicData uri="http://schemas.openxmlformats.org/drawingml/2006/table">
            <a:tbl>
              <a:tblPr/>
              <a:tblGrid>
                <a:gridCol w="80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1421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Who will review and act on the output?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5406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Name the roles or departments that will use the output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421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How will success be measured?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66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Define 2–3 KPIs or metrics that confirm the output is working correctly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301341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ROI &amp; Efficiency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746883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Estimate the financial and operational return of this AI project.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7409144" cy="83391"/>
            <a:chOff x="0" y="0"/>
            <a:chExt cx="1951379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1379" cy="21963"/>
            </a:xfrm>
            <a:custGeom>
              <a:avLst/>
              <a:gdLst/>
              <a:ahLst/>
              <a:cxnLst/>
              <a:rect l="l" t="t" r="r" b="b"/>
              <a:pathLst>
                <a:path w="1951379" h="21963">
                  <a:moveTo>
                    <a:pt x="0" y="0"/>
                  </a:moveTo>
                  <a:lnTo>
                    <a:pt x="1951379" y="0"/>
                  </a:lnTo>
                  <a:lnTo>
                    <a:pt x="195137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5137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188258"/>
          <a:ext cx="16327748" cy="6217027"/>
        </p:xfrm>
        <a:graphic>
          <a:graphicData uri="http://schemas.openxmlformats.org/drawingml/2006/table">
            <a:tbl>
              <a:tblPr/>
              <a:tblGrid>
                <a:gridCol w="5463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5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Projected with AI Solution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Baseline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project cost (RM)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annual cost saving (RM)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week (hours)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year (hours)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productivity improvement (%)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Payback period (months)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5-year ROI estimate (%)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235992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Cost &amp; Time Reduction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20584" y="2354421"/>
          <a:ext cx="16442048" cy="3368106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734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Labour Cost Reduction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Time Saving per Process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90">
                <a:tc rowSpan="6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90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974557" y="1524630"/>
            <a:ext cx="7157105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Detail the specific areas where cost or time will be reduced.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3935" y="1909081"/>
            <a:ext cx="7052355" cy="83391"/>
            <a:chOff x="0" y="0"/>
            <a:chExt cx="1857410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7410" cy="21963"/>
            </a:xfrm>
            <a:custGeom>
              <a:avLst/>
              <a:gdLst/>
              <a:ahLst/>
              <a:cxnLst/>
              <a:rect l="l" t="t" r="r" b="b"/>
              <a:pathLst>
                <a:path w="1857410" h="21963">
                  <a:moveTo>
                    <a:pt x="0" y="0"/>
                  </a:moveTo>
                  <a:lnTo>
                    <a:pt x="1857410" y="0"/>
                  </a:lnTo>
                  <a:lnTo>
                    <a:pt x="185741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5741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720584" y="5890195"/>
          <a:ext cx="16442048" cy="3368106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734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Error Reduction Savings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Reporting &amp; Administration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90">
                <a:tc rowSpan="6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90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5100"/>
            <a:ext cx="8959695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Job Efficiency Improvement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4557" y="1524630"/>
            <a:ext cx="6908426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how work quality and performance will improve.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3935" y="1909081"/>
            <a:ext cx="6827468" cy="83391"/>
            <a:chOff x="0" y="0"/>
            <a:chExt cx="1798181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98181" cy="21963"/>
            </a:xfrm>
            <a:custGeom>
              <a:avLst/>
              <a:gdLst/>
              <a:ahLst/>
              <a:cxnLst/>
              <a:rect l="l" t="t" r="r" b="b"/>
              <a:pathLst>
                <a:path w="1798181" h="21963">
                  <a:moveTo>
                    <a:pt x="0" y="0"/>
                  </a:moveTo>
                  <a:lnTo>
                    <a:pt x="1798181" y="0"/>
                  </a:lnTo>
                  <a:lnTo>
                    <a:pt x="1798181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98181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922976" y="2697321"/>
          <a:ext cx="16442049" cy="6089911"/>
        </p:xfrm>
        <a:graphic>
          <a:graphicData uri="http://schemas.openxmlformats.org/drawingml/2006/table">
            <a:tbl>
              <a:tblPr/>
              <a:tblGrid>
                <a:gridCol w="3919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0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77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Role / Job Function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Efficiency Challenge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Measurement Method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Expected Improvement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5100"/>
            <a:ext cx="6749950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Final Agreement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4557" y="1524630"/>
            <a:ext cx="5816216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Record stakeholder agreement and next actions.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3935" y="1909081"/>
            <a:ext cx="5738899" cy="83391"/>
            <a:chOff x="0" y="0"/>
            <a:chExt cx="1511480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1480" cy="21963"/>
            </a:xfrm>
            <a:custGeom>
              <a:avLst/>
              <a:gdLst/>
              <a:ahLst/>
              <a:cxnLst/>
              <a:rect l="l" t="t" r="r" b="b"/>
              <a:pathLst>
                <a:path w="1511480" h="21963">
                  <a:moveTo>
                    <a:pt x="0" y="0"/>
                  </a:moveTo>
                  <a:lnTo>
                    <a:pt x="1511480" y="0"/>
                  </a:lnTo>
                  <a:lnTo>
                    <a:pt x="151148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1148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857511"/>
              </p:ext>
            </p:extLst>
          </p:nvPr>
        </p:nvGraphicFramePr>
        <p:xfrm>
          <a:off x="839375" y="5062161"/>
          <a:ext cx="16442048" cy="3930781"/>
        </p:xfrm>
        <a:graphic>
          <a:graphicData uri="http://schemas.openxmlformats.org/drawingml/2006/table">
            <a:tbl>
              <a:tblPr/>
              <a:tblGrid>
                <a:gridCol w="951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081">
                <a:tc gridSpan="3"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Next Actions: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Next Actions: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Next Actions: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4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Action Item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Responsible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Deadline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065665"/>
              </p:ext>
            </p:extLst>
          </p:nvPr>
        </p:nvGraphicFramePr>
        <p:xfrm>
          <a:off x="839375" y="2324100"/>
          <a:ext cx="16442048" cy="2216138"/>
        </p:xfrm>
        <a:graphic>
          <a:graphicData uri="http://schemas.openxmlformats.org/drawingml/2006/table">
            <a:tbl>
              <a:tblPr/>
              <a:tblGrid>
                <a:gridCol w="1644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6454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still needs clarification: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968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502</Words>
  <Application>Microsoft Office PowerPoint</Application>
  <PresentationFormat>Custom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Open Sans</vt:lpstr>
      <vt:lpstr>Arial</vt:lpstr>
      <vt:lpstr>Open Sans Bold</vt:lpstr>
      <vt:lpstr>Agrandir Wide Bold</vt:lpstr>
      <vt:lpstr>Bricolage Grotesque</vt:lpstr>
      <vt:lpstr>Bricolage Grotesque Bold</vt:lpstr>
      <vt:lpstr>Canva Student Font</vt:lpstr>
      <vt:lpstr>Arimo Italics</vt:lpstr>
      <vt:lpstr>Calibri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 Summary  TEMPLATE</dc:title>
  <cp:lastModifiedBy>ALQEDRA AMIR IZZEDDIN AYESH</cp:lastModifiedBy>
  <cp:revision>3</cp:revision>
  <dcterms:created xsi:type="dcterms:W3CDTF">2006-08-16T00:00:00Z</dcterms:created>
  <dcterms:modified xsi:type="dcterms:W3CDTF">2026-05-03T06:53:57Z</dcterms:modified>
  <dc:identifier>DAHIgB0JrkA</dc:identifier>
</cp:coreProperties>
</file>