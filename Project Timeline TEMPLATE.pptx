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grandir Wide Bold" panose="020B0604020202020204" charset="0"/>
      <p:regular r:id="rId8"/>
    </p:embeddedFont>
    <p:embeddedFont>
      <p:font typeface="Bricolage Grotesque" panose="020B0604020202020204" charset="0"/>
      <p:regular r:id="rId9"/>
    </p:embeddedFont>
    <p:embeddedFont>
      <p:font typeface="Bricolage Grotesque Bold" panose="020B0604020202020204" charset="0"/>
      <p:regular r:id="rId10"/>
    </p:embeddedFont>
    <p:embeddedFont>
      <p:font typeface="Canva Sans" panose="020B0604020202020204" charset="0"/>
      <p:regular r:id="rId11"/>
    </p:embeddedFont>
    <p:embeddedFont>
      <p:font typeface="Canva Student Font" panose="020B0604020202020204" charset="0"/>
      <p:regular r:id="rId12"/>
    </p:embeddedFont>
    <p:embeddedFont>
      <p:font typeface="Open Sans" panose="020B0606030504020204" pitchFamily="34" charset="0"/>
      <p:regular r:id="rId13"/>
    </p:embeddedFont>
    <p:embeddedFont>
      <p:font typeface="Open Sans Bold" panose="020B0806030504020204" charset="0"/>
      <p:regular r:id="rId14"/>
    </p:embeddedFont>
    <p:embeddedFont>
      <p:font typeface="Open Sans Italics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F4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415312" y="478275"/>
            <a:ext cx="3411600" cy="1559970"/>
          </a:xfrm>
          <a:custGeom>
            <a:avLst/>
            <a:gdLst/>
            <a:ahLst/>
            <a:cxnLst/>
            <a:rect l="l" t="t" r="r" b="b"/>
            <a:pathLst>
              <a:path w="3411600" h="1559970">
                <a:moveTo>
                  <a:pt x="0" y="0"/>
                </a:moveTo>
                <a:lnTo>
                  <a:pt x="3411600" y="0"/>
                </a:lnTo>
                <a:lnTo>
                  <a:pt x="3411600" y="1559970"/>
                </a:lnTo>
                <a:lnTo>
                  <a:pt x="0" y="1559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13626382" y="9075907"/>
            <a:ext cx="4491445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30387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Your Pathway To Excellence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4397" y="6687239"/>
            <a:ext cx="6900055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Project Timeline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3247" y="8318830"/>
            <a:ext cx="847034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Plan your implementation timeline, responsibilities, and project milestones.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724397" y="8749237"/>
            <a:ext cx="8449686" cy="83391"/>
            <a:chOff x="0" y="0"/>
            <a:chExt cx="2225432" cy="2196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25432" cy="21963"/>
            </a:xfrm>
            <a:custGeom>
              <a:avLst/>
              <a:gdLst/>
              <a:ahLst/>
              <a:cxnLst/>
              <a:rect l="l" t="t" r="r" b="b"/>
              <a:pathLst>
                <a:path w="2225432" h="21963">
                  <a:moveTo>
                    <a:pt x="0" y="0"/>
                  </a:moveTo>
                  <a:lnTo>
                    <a:pt x="2225432" y="0"/>
                  </a:lnTo>
                  <a:lnTo>
                    <a:pt x="2225432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225432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239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74" y="165100"/>
            <a:ext cx="7373549" cy="86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Requirement Overview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385599"/>
            <a:ext cx="16618524" cy="389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project timeline ensures that all activities are planned.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8700" y="1909081"/>
            <a:ext cx="7608179" cy="83391"/>
            <a:chOff x="0" y="0"/>
            <a:chExt cx="2003800" cy="219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03800" cy="21963"/>
            </a:xfrm>
            <a:custGeom>
              <a:avLst/>
              <a:gdLst/>
              <a:ahLst/>
              <a:cxnLst/>
              <a:rect l="l" t="t" r="r" b="b"/>
              <a:pathLst>
                <a:path w="2003800" h="21963">
                  <a:moveTo>
                    <a:pt x="0" y="0"/>
                  </a:moveTo>
                  <a:lnTo>
                    <a:pt x="2003800" y="0"/>
                  </a:lnTo>
                  <a:lnTo>
                    <a:pt x="2003800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003800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1028774" y="2574824"/>
          <a:ext cx="16230600" cy="5753100"/>
        </p:xfrm>
        <a:graphic>
          <a:graphicData uri="http://schemas.openxmlformats.org/drawingml/2006/table">
            <a:tbl>
              <a:tblPr/>
              <a:tblGrid>
                <a:gridCol w="1623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14450">
                <a:tc>
                  <a:txBody>
                    <a:bodyPr/>
                    <a:lstStyle/>
                    <a:p>
                      <a:pPr marL="647703" lvl="1" indent="-323852" algn="l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Break your project into phases and activities. Start with planning, then development, testing, and deployment.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647703" lvl="1" indent="-323852" algn="l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Assign an owner to each activity — this should be a specific person, not just 'the team'.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647703" lvl="1" indent="-323852" algn="l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Set realistic start and end dates for each activity.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647703" lvl="1" indent="-323852" algn="l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Define milestones — key checkpoints or deliverables that confirm progress.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4450">
                <a:tc>
                  <a:txBody>
                    <a:bodyPr/>
                    <a:lstStyle/>
                    <a:p>
                      <a:pPr marL="647703" lvl="1" indent="-323852" algn="l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Track project status using the status column (Not Started / In Progress / Completed / Delayed).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647703" lvl="1" indent="-323852" algn="l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Review the timeline regularly and update it as the project progresses.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65100"/>
            <a:ext cx="6906953" cy="86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 Source Overview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199103"/>
              </p:ext>
            </p:extLst>
          </p:nvPr>
        </p:nvGraphicFramePr>
        <p:xfrm>
          <a:off x="100274" y="2857500"/>
          <a:ext cx="18202515" cy="4732949"/>
        </p:xfrm>
        <a:graphic>
          <a:graphicData uri="http://schemas.openxmlformats.org/drawingml/2006/table">
            <a:tbl>
              <a:tblPr/>
              <a:tblGrid>
                <a:gridCol w="5796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0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7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40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31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12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575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941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369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7819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3698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6626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5589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83128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75930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740115">
                <a:tc rowSpan="2"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Activity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Month1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Month4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Month4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Month1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Month2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Month4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Month3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Month3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Month3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Month3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Month4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Month2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Month2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Month2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779">
                <a:tc vMerge="1"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Activity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W1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W2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W3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W4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W1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W2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W3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W4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W1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W2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W3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W4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W1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W2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W3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W4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7228"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 b="1" dirty="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Requirement Gathering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0778">
                <a:tc>
                  <a:txBody>
                    <a:bodyPr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 b="1" dirty="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Solution Design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7683">
                <a:tc>
                  <a:txBody>
                    <a:bodyPr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Development &amp; Configuration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7683">
                <a:tc>
                  <a:txBody>
                    <a:bodyPr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User Acceptance Testing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7683">
                <a:tc>
                  <a:txBody>
                    <a:bodyPr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Go Live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65100"/>
            <a:ext cx="9527578" cy="86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Key Milestones &amp; Deliverables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438039"/>
            <a:ext cx="13181161" cy="3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section summarises the main checkpoints that confirm project progress and readiness for the next phase.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8700" y="1909081"/>
            <a:ext cx="13181161" cy="83391"/>
            <a:chOff x="0" y="0"/>
            <a:chExt cx="3471581" cy="219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471582" cy="21963"/>
            </a:xfrm>
            <a:custGeom>
              <a:avLst/>
              <a:gdLst/>
              <a:ahLst/>
              <a:cxnLst/>
              <a:rect l="l" t="t" r="r" b="b"/>
              <a:pathLst>
                <a:path w="3471582" h="21963">
                  <a:moveTo>
                    <a:pt x="0" y="0"/>
                  </a:moveTo>
                  <a:lnTo>
                    <a:pt x="3471582" y="0"/>
                  </a:lnTo>
                  <a:lnTo>
                    <a:pt x="3471582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471581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922976" y="2697321"/>
          <a:ext cx="16442049" cy="4705548"/>
        </p:xfrm>
        <a:graphic>
          <a:graphicData uri="http://schemas.openxmlformats.org/drawingml/2006/table">
            <a:tbl>
              <a:tblPr/>
              <a:tblGrid>
                <a:gridCol w="48248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0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64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4026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Milestone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Expected Deliverable / Output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Target Date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587"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Requirement Finalised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Write the confirmed project scope, user needs, and expected outcomes.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Write planned completion date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587"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Solution Design Approved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Write the approved workflow, system design, dashboard layout, or AI solution approach.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587"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Data Preparation Completed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Write the cleaned dataset, data dictionary, or validated data source ready for use.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587"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Development Completed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Write the completed prototype, dashboard, AI tool, automation flow, or system feature.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587"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UAT Completed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Write the testing result, user feedback, and required improvements before finalisation.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3587"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Go-Live &amp; Handover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Write the final solution, user guide, training material, and handover confirmation.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1909081"/>
            <a:ext cx="7570453" cy="83391"/>
            <a:chOff x="0" y="0"/>
            <a:chExt cx="1993864" cy="219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93864" cy="21963"/>
            </a:xfrm>
            <a:custGeom>
              <a:avLst/>
              <a:gdLst/>
              <a:ahLst/>
              <a:cxnLst/>
              <a:rect l="l" t="t" r="r" b="b"/>
              <a:pathLst>
                <a:path w="1993864" h="21963">
                  <a:moveTo>
                    <a:pt x="0" y="0"/>
                  </a:moveTo>
                  <a:lnTo>
                    <a:pt x="1993864" y="0"/>
                  </a:lnTo>
                  <a:lnTo>
                    <a:pt x="1993864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993864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817252" y="3150541"/>
          <a:ext cx="16442048" cy="5392218"/>
        </p:xfrm>
        <a:graphic>
          <a:graphicData uri="http://schemas.openxmlformats.org/drawingml/2006/table">
            <a:tbl>
              <a:tblPr/>
              <a:tblGrid>
                <a:gridCol w="2348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8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8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88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488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488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488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8362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Activity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Owner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Start Date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Remarks / Issues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Status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% Complete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End Date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408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0%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408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0%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408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0%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408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0%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408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0%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3408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0%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93408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0%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3" name="Group 13"/>
          <p:cNvGrpSpPr/>
          <p:nvPr/>
        </p:nvGrpSpPr>
        <p:grpSpPr>
          <a:xfrm>
            <a:off x="1385489" y="2176475"/>
            <a:ext cx="748445" cy="702686"/>
            <a:chOff x="0" y="0"/>
            <a:chExt cx="197121" cy="18506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7121" cy="185069"/>
            </a:xfrm>
            <a:custGeom>
              <a:avLst/>
              <a:gdLst/>
              <a:ahLst/>
              <a:cxnLst/>
              <a:rect l="l" t="t" r="r" b="b"/>
              <a:pathLst>
                <a:path w="197121" h="185069">
                  <a:moveTo>
                    <a:pt x="0" y="0"/>
                  </a:moveTo>
                  <a:lnTo>
                    <a:pt x="197121" y="0"/>
                  </a:lnTo>
                  <a:lnTo>
                    <a:pt x="197121" y="185069"/>
                  </a:lnTo>
                  <a:lnTo>
                    <a:pt x="0" y="185069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97121" cy="223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28700" y="165100"/>
            <a:ext cx="7362794" cy="86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Project Status Tracking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1438039"/>
            <a:ext cx="7621564" cy="3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Use this table to record progress during regular project reviews.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29622" y="2338891"/>
            <a:ext cx="1446937" cy="3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Not Started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324216" y="2176475"/>
            <a:ext cx="748445" cy="702686"/>
            <a:chOff x="0" y="0"/>
            <a:chExt cx="197121" cy="18506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97121" cy="185069"/>
            </a:xfrm>
            <a:custGeom>
              <a:avLst/>
              <a:gdLst/>
              <a:ahLst/>
              <a:cxnLst/>
              <a:rect l="l" t="t" r="r" b="b"/>
              <a:pathLst>
                <a:path w="197121" h="185069">
                  <a:moveTo>
                    <a:pt x="0" y="0"/>
                  </a:moveTo>
                  <a:lnTo>
                    <a:pt x="197121" y="0"/>
                  </a:lnTo>
                  <a:lnTo>
                    <a:pt x="197121" y="185069"/>
                  </a:lnTo>
                  <a:lnTo>
                    <a:pt x="0" y="185069"/>
                  </a:lnTo>
                  <a:close/>
                </a:path>
              </a:pathLst>
            </a:custGeom>
            <a:solidFill>
              <a:srgbClr val="14A8A8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97121" cy="223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168349" y="2338891"/>
            <a:ext cx="1446937" cy="3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 Progress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263111" y="2176475"/>
            <a:ext cx="748445" cy="702686"/>
            <a:chOff x="0" y="0"/>
            <a:chExt cx="197121" cy="18506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7121" cy="185069"/>
            </a:xfrm>
            <a:custGeom>
              <a:avLst/>
              <a:gdLst/>
              <a:ahLst/>
              <a:cxnLst/>
              <a:rect l="l" t="t" r="r" b="b"/>
              <a:pathLst>
                <a:path w="197121" h="185069">
                  <a:moveTo>
                    <a:pt x="0" y="0"/>
                  </a:moveTo>
                  <a:lnTo>
                    <a:pt x="197121" y="0"/>
                  </a:lnTo>
                  <a:lnTo>
                    <a:pt x="197121" y="185069"/>
                  </a:lnTo>
                  <a:lnTo>
                    <a:pt x="0" y="185069"/>
                  </a:lnTo>
                  <a:close/>
                </a:path>
              </a:pathLst>
            </a:custGeom>
            <a:solidFill>
              <a:srgbClr val="27AE6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97121" cy="223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107244" y="2338891"/>
            <a:ext cx="1446937" cy="3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Completed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3202006" y="2176475"/>
            <a:ext cx="748445" cy="702686"/>
            <a:chOff x="0" y="0"/>
            <a:chExt cx="197121" cy="18506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97121" cy="185069"/>
            </a:xfrm>
            <a:custGeom>
              <a:avLst/>
              <a:gdLst/>
              <a:ahLst/>
              <a:cxnLst/>
              <a:rect l="l" t="t" r="r" b="b"/>
              <a:pathLst>
                <a:path w="197121" h="185069">
                  <a:moveTo>
                    <a:pt x="0" y="0"/>
                  </a:moveTo>
                  <a:lnTo>
                    <a:pt x="197121" y="0"/>
                  </a:lnTo>
                  <a:lnTo>
                    <a:pt x="197121" y="185069"/>
                  </a:lnTo>
                  <a:lnTo>
                    <a:pt x="0" y="185069"/>
                  </a:lnTo>
                  <a:close/>
                </a:path>
              </a:pathLst>
            </a:custGeom>
            <a:solidFill>
              <a:srgbClr val="E74C3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97121" cy="223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4046139" y="2338891"/>
            <a:ext cx="1169844" cy="3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Delayed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4415312" y="478275"/>
            <a:ext cx="3411600" cy="1559970"/>
          </a:xfrm>
          <a:custGeom>
            <a:avLst/>
            <a:gdLst/>
            <a:ahLst/>
            <a:cxnLst/>
            <a:rect l="l" t="t" r="r" b="b"/>
            <a:pathLst>
              <a:path w="3411600" h="1559970">
                <a:moveTo>
                  <a:pt x="0" y="0"/>
                </a:moveTo>
                <a:lnTo>
                  <a:pt x="3411600" y="0"/>
                </a:lnTo>
                <a:lnTo>
                  <a:pt x="3411600" y="1559970"/>
                </a:lnTo>
                <a:lnTo>
                  <a:pt x="0" y="1559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9687851" y="2921793"/>
            <a:ext cx="6665443" cy="3834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3654"/>
              </a:lnSpc>
            </a:pPr>
            <a:r>
              <a:rPr lang="en-US" sz="11977" b="1">
                <a:solidFill>
                  <a:srgbClr val="1C2C4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THANK</a:t>
            </a:r>
          </a:p>
          <a:p>
            <a:pPr algn="just">
              <a:lnSpc>
                <a:spcPts val="13654"/>
              </a:lnSpc>
            </a:pPr>
            <a:r>
              <a:rPr lang="en-US" sz="11977" b="1">
                <a:solidFill>
                  <a:srgbClr val="1C2C4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YOU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938702" y="9700825"/>
            <a:ext cx="9349298" cy="128116"/>
            <a:chOff x="0" y="0"/>
            <a:chExt cx="2462367" cy="337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62367" cy="33742"/>
            </a:xfrm>
            <a:custGeom>
              <a:avLst/>
              <a:gdLst/>
              <a:ahLst/>
              <a:cxnLst/>
              <a:rect l="l" t="t" r="r" b="b"/>
              <a:pathLst>
                <a:path w="2462367" h="33742">
                  <a:moveTo>
                    <a:pt x="0" y="0"/>
                  </a:moveTo>
                  <a:lnTo>
                    <a:pt x="2462367" y="0"/>
                  </a:lnTo>
                  <a:lnTo>
                    <a:pt x="2462367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33333">
                  <a:srgbClr val="FFFFFF">
                    <a:alpha val="100000"/>
                  </a:srgbClr>
                </a:gs>
                <a:gs pos="66667">
                  <a:srgbClr val="0C6E84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62367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626382" y="9075907"/>
            <a:ext cx="4491445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30387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Your Pathway To Excellence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345</Words>
  <Application>Microsoft Office PowerPoint</Application>
  <PresentationFormat>Custom</PresentationFormat>
  <Paragraphs>79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Arial</vt:lpstr>
      <vt:lpstr>Agrandir Wide Bold</vt:lpstr>
      <vt:lpstr>Bricolage Grotesque Bold</vt:lpstr>
      <vt:lpstr>Open Sans Bold</vt:lpstr>
      <vt:lpstr>Open Sans Italics</vt:lpstr>
      <vt:lpstr>Bricolage Grotesque</vt:lpstr>
      <vt:lpstr>Calibri</vt:lpstr>
      <vt:lpstr>Open Sans</vt:lpstr>
      <vt:lpstr>Canva Student Font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Timeline TEMPLATE</dc:title>
  <cp:lastModifiedBy>ALQEDRA AMIR IZZEDDIN AYESH</cp:lastModifiedBy>
  <cp:revision>3</cp:revision>
  <dcterms:created xsi:type="dcterms:W3CDTF">2006-08-16T00:00:00Z</dcterms:created>
  <dcterms:modified xsi:type="dcterms:W3CDTF">2026-05-02T08:17:17Z</dcterms:modified>
  <dc:identifier>DAHIfGiiskY</dc:identifier>
</cp:coreProperties>
</file>