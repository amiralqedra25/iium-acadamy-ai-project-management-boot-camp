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4" r:id="rId3"/>
    <p:sldId id="265" r:id="rId4"/>
    <p:sldId id="257" r:id="rId5"/>
    <p:sldId id="266" r:id="rId6"/>
    <p:sldId id="268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grandir Wide Bold" panose="020B0604020202020204" charset="0"/>
      <p:regular r:id="rId14"/>
    </p:embeddedFont>
    <p:embeddedFont>
      <p:font typeface="Bricolage Grotesque" panose="020B0604020202020204" charset="0"/>
      <p:regular r:id="rId15"/>
    </p:embeddedFont>
    <p:embeddedFont>
      <p:font typeface="Bricolage Grotesque Bold" panose="020B0604020202020204" charset="0"/>
      <p:regular r:id="rId16"/>
    </p:embeddedFont>
    <p:embeddedFont>
      <p:font typeface="Canva Sans Bold"/>
      <p:regular r:id="rId17"/>
    </p:embeddedFont>
    <p:embeddedFont>
      <p:font typeface="Canva Student Font" panose="020B0604020202020204" charset="0"/>
      <p:regular r:id="rId18"/>
    </p:embeddedFont>
    <p:embeddedFont>
      <p:font typeface="Open Sans" panose="020B0606030504020204" pitchFamily="34" charset="0"/>
      <p:regular r:id="rId19"/>
      <p:bold r:id="rId20"/>
    </p:embeddedFont>
    <p:embeddedFont>
      <p:font typeface="Open Sans Bold" panose="020B0806030504020204" pitchFamily="34" charset="0"/>
      <p:bold r:id="rId21"/>
    </p:embeddedFont>
    <p:embeddedFont>
      <p:font typeface="Open Sans Italics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415312" y="478275"/>
            <a:ext cx="3411600" cy="1559970"/>
          </a:xfrm>
          <a:custGeom>
            <a:avLst/>
            <a:gdLst/>
            <a:ahLst/>
            <a:cxnLst/>
            <a:rect l="l" t="t" r="r" b="b"/>
            <a:pathLst>
              <a:path w="3411600" h="1559970">
                <a:moveTo>
                  <a:pt x="0" y="0"/>
                </a:moveTo>
                <a:lnTo>
                  <a:pt x="3411600" y="0"/>
                </a:lnTo>
                <a:lnTo>
                  <a:pt x="3411600" y="1559970"/>
                </a:lnTo>
                <a:lnTo>
                  <a:pt x="0" y="1559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13626382" y="9075907"/>
            <a:ext cx="4491445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30387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Your Pathway To Excellence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6891" y="6094546"/>
            <a:ext cx="12099988" cy="1678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719"/>
              </a:lnSpc>
            </a:pPr>
            <a:r>
              <a:rPr lang="en-US" sz="4800" b="1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AI PROJECT MANAGEMENT CERTIFICATION</a:t>
            </a:r>
          </a:p>
          <a:p>
            <a:pPr algn="just">
              <a:lnSpc>
                <a:spcPts val="6719"/>
              </a:lnSpc>
            </a:pPr>
            <a:r>
              <a:rPr lang="en-US" sz="4800" b="1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PROJECT CHARTER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6891" y="7776025"/>
            <a:ext cx="12099988" cy="1678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Title:</a:t>
            </a:r>
          </a:p>
          <a:p>
            <a:pPr algn="just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Department: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C1A9C32-B8A7-8CAD-8171-A3C8E611E60C}"/>
              </a:ext>
            </a:extLst>
          </p:cNvPr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D065EAF-DEDA-4898-C20C-F1C74B2FF707}"/>
                </a:ext>
              </a:extLst>
            </p:cNvPr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8BC060A-D456-534F-CBDC-55DEDF788745}"/>
                </a:ext>
              </a:extLst>
            </p:cNvPr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24EB199E-3043-1004-DB57-67D5ABAB9E0B}"/>
              </a:ext>
            </a:extLst>
          </p:cNvPr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068EE42-40E6-010A-B198-4B31D6A6FCF7}"/>
              </a:ext>
            </a:extLst>
          </p:cNvPr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1FBF300-2D82-D4D2-4934-64114E7CE8E9}"/>
                </a:ext>
              </a:extLst>
            </p:cNvPr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6355F42-7214-DFFE-4BED-E49850EDCA98}"/>
                </a:ext>
              </a:extLst>
            </p:cNvPr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148548EA-D7D3-B462-096F-3623B41554C5}"/>
              </a:ext>
            </a:extLst>
          </p:cNvPr>
          <p:cNvSpPr txBox="1"/>
          <p:nvPr/>
        </p:nvSpPr>
        <p:spPr>
          <a:xfrm>
            <a:off x="1028701" y="165100"/>
            <a:ext cx="5600700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Project Overview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448D711-CD22-CECE-05EB-F5314320E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877384"/>
              </p:ext>
            </p:extLst>
          </p:nvPr>
        </p:nvGraphicFramePr>
        <p:xfrm>
          <a:off x="1028700" y="1752599"/>
          <a:ext cx="16230600" cy="6781802"/>
        </p:xfrm>
        <a:graphic>
          <a:graphicData uri="http://schemas.openxmlformats.org/drawingml/2006/table">
            <a:tbl>
              <a:tblPr/>
              <a:tblGrid>
                <a:gridCol w="6134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4576">
                <a:tc>
                  <a:txBody>
                    <a:bodyPr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Project Title</a:t>
                      </a:r>
                      <a:endParaRPr lang="en-US" sz="1600" dirty="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 dirty="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4346">
                <a:tc>
                  <a:txBody>
                    <a:bodyPr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Project Owner (Name &amp; Title)</a:t>
                      </a:r>
                      <a:endParaRPr lang="en-US" sz="1600" dirty="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 dirty="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4576">
                <a:tc>
                  <a:txBody>
                    <a:bodyPr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Person-in-Charge (PIC)</a:t>
                      </a:r>
                      <a:endParaRPr lang="en-US" sz="1600" dirty="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4576">
                <a:tc>
                  <a:txBody>
                    <a:bodyPr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Contact / Email</a:t>
                      </a:r>
                      <a:endParaRPr lang="en-US" sz="1600" dirty="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4576">
                <a:tc>
                  <a:txBody>
                    <a:bodyPr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Organization</a:t>
                      </a:r>
                      <a:endParaRPr lang="en-US" sz="1600" dirty="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4576">
                <a:tc>
                  <a:txBody>
                    <a:bodyPr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Department</a:t>
                      </a:r>
                      <a:endParaRPr lang="en-US" sz="1600" dirty="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94576">
                <a:tc>
                  <a:txBody>
                    <a:bodyPr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Reporting Manager</a:t>
                      </a:r>
                      <a:endParaRPr lang="en-US" sz="1600" dirty="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 dirty="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6499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99567E1-98E5-37F8-C1FC-73AC390CA661}"/>
              </a:ext>
            </a:extLst>
          </p:cNvPr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7C25B21-D761-F493-10FE-C61398BD093A}"/>
                </a:ext>
              </a:extLst>
            </p:cNvPr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D95D95C-4604-1EB4-D90B-5B18E5F29E9A}"/>
                </a:ext>
              </a:extLst>
            </p:cNvPr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716AC49E-D804-0ACE-1762-49DF3139A3E4}"/>
              </a:ext>
            </a:extLst>
          </p:cNvPr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2DFA3CBC-D1EA-853B-3038-C736480EB371}"/>
              </a:ext>
            </a:extLst>
          </p:cNvPr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EFCC1FC-2F36-6539-8D2F-3966DD01BF3C}"/>
                </a:ext>
              </a:extLst>
            </p:cNvPr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E0D6890-7EFE-1E9B-ABDA-B4553D1DC9F2}"/>
                </a:ext>
              </a:extLst>
            </p:cNvPr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4D067065-F9F3-0678-FEDF-B8CB215D9547}"/>
              </a:ext>
            </a:extLst>
          </p:cNvPr>
          <p:cNvSpPr txBox="1"/>
          <p:nvPr/>
        </p:nvSpPr>
        <p:spPr>
          <a:xfrm>
            <a:off x="1028700" y="165100"/>
            <a:ext cx="6057418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Project Description</a:t>
            </a:r>
          </a:p>
        </p:txBody>
      </p:sp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8A06557A-3027-6FF3-50E6-93FFBEB0E2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764979"/>
              </p:ext>
            </p:extLst>
          </p:nvPr>
        </p:nvGraphicFramePr>
        <p:xfrm>
          <a:off x="1028700" y="1857666"/>
          <a:ext cx="16230600" cy="7400632"/>
        </p:xfrm>
        <a:graphic>
          <a:graphicData uri="http://schemas.openxmlformats.org/drawingml/2006/table">
            <a:tbl>
              <a:tblPr/>
              <a:tblGrid>
                <a:gridCol w="6633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97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50158">
                <a:tc>
                  <a:txBody>
                    <a:bodyPr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What is the current problem or challenge?</a:t>
                      </a:r>
                      <a:endParaRPr lang="en-US" sz="1600" dirty="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 dirty="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0158">
                <a:tc>
                  <a:txBody>
                    <a:bodyPr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Who is affected by this problem?</a:t>
                      </a:r>
                      <a:endParaRPr lang="en-US" sz="1600" dirty="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0158">
                <a:tc>
                  <a:txBody>
                    <a:bodyPr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What is the impact if this problem is not solved?</a:t>
                      </a:r>
                      <a:endParaRPr lang="en-US" sz="1600" dirty="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50158">
                <a:tc>
                  <a:txBody>
                    <a:bodyPr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What evidence or data supports the existence of this problem?</a:t>
                      </a:r>
                      <a:endParaRPr lang="en-US" sz="1600" dirty="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 dirty="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0864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75020" y="165100"/>
            <a:ext cx="5516179" cy="8635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Project Objective</a:t>
            </a:r>
          </a:p>
        </p:txBody>
      </p:sp>
      <p:graphicFrame>
        <p:nvGraphicFramePr>
          <p:cNvPr id="10" name="Table 15">
            <a:extLst>
              <a:ext uri="{FF2B5EF4-FFF2-40B4-BE49-F238E27FC236}">
                <a16:creationId xmlns:a16="http://schemas.microsoft.com/office/drawing/2014/main" id="{43DF87D1-EFC3-7E75-D895-BC55525B0A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820664"/>
              </p:ext>
            </p:extLst>
          </p:nvPr>
        </p:nvGraphicFramePr>
        <p:xfrm>
          <a:off x="1028698" y="1857667"/>
          <a:ext cx="16230600" cy="6571665"/>
        </p:xfrm>
        <a:graphic>
          <a:graphicData uri="http://schemas.openxmlformats.org/drawingml/2006/table">
            <a:tbl>
              <a:tblPr/>
              <a:tblGrid>
                <a:gridCol w="4988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2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14333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Objective 1</a:t>
                      </a:r>
                      <a:endParaRPr lang="en-US" sz="1600" dirty="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4333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Objective 2</a:t>
                      </a:r>
                      <a:endParaRPr lang="en-US" sz="1600" dirty="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4333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Objective 3</a:t>
                      </a:r>
                      <a:endParaRPr lang="en-US" sz="1600" dirty="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4333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Objective 4</a:t>
                      </a:r>
                      <a:endParaRPr lang="en-US" sz="1600" dirty="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4333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Objective 5</a:t>
                      </a:r>
                      <a:endParaRPr lang="en-US" sz="1600" dirty="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 dirty="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CD00FD8-2C0E-E7D9-7A8E-B81505AF608C}"/>
              </a:ext>
            </a:extLst>
          </p:cNvPr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C71C492-D223-FF3B-7531-EBA0F83D6616}"/>
                </a:ext>
              </a:extLst>
            </p:cNvPr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1EC1E3D-0E7E-0C34-E528-866FB4583F84}"/>
                </a:ext>
              </a:extLst>
            </p:cNvPr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D1D22547-21B1-7145-8EAC-57489E0150EA}"/>
              </a:ext>
            </a:extLst>
          </p:cNvPr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E845418C-4640-93E0-1D49-B3DE94791F52}"/>
              </a:ext>
            </a:extLst>
          </p:cNvPr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51098C0-087D-4EA1-EF99-3BCCEC25D1CA}"/>
                </a:ext>
              </a:extLst>
            </p:cNvPr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1C0F406-D460-B250-4896-6F4E3A0344D5}"/>
                </a:ext>
              </a:extLst>
            </p:cNvPr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F0959877-3CA8-8F55-363A-8D87C9220BE3}"/>
              </a:ext>
            </a:extLst>
          </p:cNvPr>
          <p:cNvSpPr txBox="1"/>
          <p:nvPr/>
        </p:nvSpPr>
        <p:spPr>
          <a:xfrm>
            <a:off x="1028700" y="165100"/>
            <a:ext cx="7301341" cy="86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ROI &amp; Efficiency Impact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1850666-110C-FE59-C71D-3085F4A9E008}"/>
              </a:ext>
            </a:extLst>
          </p:cNvPr>
          <p:cNvSpPr txBox="1"/>
          <p:nvPr/>
        </p:nvSpPr>
        <p:spPr>
          <a:xfrm>
            <a:off x="974557" y="1524630"/>
            <a:ext cx="7468834" cy="3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Estimate the financial and operational return of this AI project.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49E151FB-EB2E-8477-6F91-26838CBF97BF}"/>
              </a:ext>
            </a:extLst>
          </p:cNvPr>
          <p:cNvGrpSpPr/>
          <p:nvPr/>
        </p:nvGrpSpPr>
        <p:grpSpPr>
          <a:xfrm>
            <a:off x="1003935" y="1909081"/>
            <a:ext cx="7409144" cy="83391"/>
            <a:chOff x="0" y="0"/>
            <a:chExt cx="1951379" cy="21963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C77E4A6C-FF26-C948-8AC4-67146C0B7221}"/>
                </a:ext>
              </a:extLst>
            </p:cNvPr>
            <p:cNvSpPr/>
            <p:nvPr/>
          </p:nvSpPr>
          <p:spPr>
            <a:xfrm>
              <a:off x="0" y="0"/>
              <a:ext cx="1951379" cy="21963"/>
            </a:xfrm>
            <a:custGeom>
              <a:avLst/>
              <a:gdLst/>
              <a:ahLst/>
              <a:cxnLst/>
              <a:rect l="l" t="t" r="r" b="b"/>
              <a:pathLst>
                <a:path w="1951379" h="21963">
                  <a:moveTo>
                    <a:pt x="0" y="0"/>
                  </a:moveTo>
                  <a:lnTo>
                    <a:pt x="1951379" y="0"/>
                  </a:lnTo>
                  <a:lnTo>
                    <a:pt x="1951379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63DBE3-C8D7-A63E-FEAE-F0B95DAD791F}"/>
                </a:ext>
              </a:extLst>
            </p:cNvPr>
            <p:cNvSpPr txBox="1"/>
            <p:nvPr/>
          </p:nvSpPr>
          <p:spPr>
            <a:xfrm>
              <a:off x="0" y="-38100"/>
              <a:ext cx="1951379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98190EA0-6E8A-27F9-5104-A887A7A2AC0C}"/>
              </a:ext>
            </a:extLst>
          </p:cNvPr>
          <p:cNvGraphicFramePr>
            <a:graphicFrameLocks noGrp="1"/>
          </p:cNvGraphicFramePr>
          <p:nvPr/>
        </p:nvGraphicFramePr>
        <p:xfrm>
          <a:off x="1028700" y="2188258"/>
          <a:ext cx="16327748" cy="6217027"/>
        </p:xfrm>
        <a:graphic>
          <a:graphicData uri="http://schemas.openxmlformats.org/drawingml/2006/table">
            <a:tbl>
              <a:tblPr/>
              <a:tblGrid>
                <a:gridCol w="54633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2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51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5543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Metric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Projected with AI Solution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Current Baseline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067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Estimated project cost (RM)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067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Estimated annual cost saving (RM)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270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Estimated time saving per week (hours)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270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Estimated time saving per year (hours)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2270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Estimated productivity improvement (%)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2270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Payback period (months)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12270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5-year ROI estimate (%)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6504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3DE1E67-14D4-4206-784E-B336979AD97C}"/>
              </a:ext>
            </a:extLst>
          </p:cNvPr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C73E6D7-923C-8822-91EC-29415A02403D}"/>
                </a:ext>
              </a:extLst>
            </p:cNvPr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645485C-2A7B-728C-6809-FC316BB4D4AF}"/>
                </a:ext>
              </a:extLst>
            </p:cNvPr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E8407E1D-B4B3-D5DD-2C84-7E56E5B822C7}"/>
              </a:ext>
            </a:extLst>
          </p:cNvPr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1FFBE56F-B2E5-5F26-6DA3-4F8ED7FABB75}"/>
              </a:ext>
            </a:extLst>
          </p:cNvPr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68DCFFA-7188-F3EB-3591-F4641C0C0A61}"/>
                </a:ext>
              </a:extLst>
            </p:cNvPr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9D90701-1742-39B1-87F0-78F26C3A8809}"/>
                </a:ext>
              </a:extLst>
            </p:cNvPr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4DF03792-F84C-CFDC-E934-DFDCAB6F08E3}"/>
              </a:ext>
            </a:extLst>
          </p:cNvPr>
          <p:cNvSpPr txBox="1"/>
          <p:nvPr/>
        </p:nvSpPr>
        <p:spPr>
          <a:xfrm>
            <a:off x="1028700" y="165100"/>
            <a:ext cx="7821060" cy="86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Expected System Output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C2C5CC0-CECE-0143-5793-25233AF42970}"/>
              </a:ext>
            </a:extLst>
          </p:cNvPr>
          <p:cNvSpPr txBox="1"/>
          <p:nvPr/>
        </p:nvSpPr>
        <p:spPr>
          <a:xfrm>
            <a:off x="974218" y="1524630"/>
            <a:ext cx="6839090" cy="3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Describe what the AI system should produce or generate.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F02C9101-BE53-AC66-7451-544A33D799A2}"/>
              </a:ext>
            </a:extLst>
          </p:cNvPr>
          <p:cNvGrpSpPr/>
          <p:nvPr/>
        </p:nvGrpSpPr>
        <p:grpSpPr>
          <a:xfrm>
            <a:off x="1028700" y="1909081"/>
            <a:ext cx="6738797" cy="83391"/>
            <a:chOff x="0" y="0"/>
            <a:chExt cx="1774827" cy="21963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7A185F2B-B325-7062-2F1D-8FF2DE40BF48}"/>
                </a:ext>
              </a:extLst>
            </p:cNvPr>
            <p:cNvSpPr/>
            <p:nvPr/>
          </p:nvSpPr>
          <p:spPr>
            <a:xfrm>
              <a:off x="0" y="0"/>
              <a:ext cx="1774827" cy="21963"/>
            </a:xfrm>
            <a:custGeom>
              <a:avLst/>
              <a:gdLst/>
              <a:ahLst/>
              <a:cxnLst/>
              <a:rect l="l" t="t" r="r" b="b"/>
              <a:pathLst>
                <a:path w="1774827" h="21963">
                  <a:moveTo>
                    <a:pt x="0" y="0"/>
                  </a:moveTo>
                  <a:lnTo>
                    <a:pt x="1774827" y="0"/>
                  </a:lnTo>
                  <a:lnTo>
                    <a:pt x="1774827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A7F4B982-ECCF-9C28-9AF2-F14EB1B72258}"/>
                </a:ext>
              </a:extLst>
            </p:cNvPr>
            <p:cNvSpPr txBox="1"/>
            <p:nvPr/>
          </p:nvSpPr>
          <p:spPr>
            <a:xfrm>
              <a:off x="0" y="-38100"/>
              <a:ext cx="1774827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64231C8B-C2D7-3B5A-5772-FBC7C18024AA}"/>
              </a:ext>
            </a:extLst>
          </p:cNvPr>
          <p:cNvGraphicFramePr>
            <a:graphicFrameLocks noGrp="1"/>
          </p:cNvGraphicFramePr>
          <p:nvPr/>
        </p:nvGraphicFramePr>
        <p:xfrm>
          <a:off x="974170" y="2525871"/>
          <a:ext cx="16285131" cy="6732430"/>
        </p:xfrm>
        <a:graphic>
          <a:graphicData uri="http://schemas.openxmlformats.org/drawingml/2006/table">
            <a:tbl>
              <a:tblPr/>
              <a:tblGrid>
                <a:gridCol w="82026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2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4965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Reports &amp; Dashboards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Predictions &amp; Recommendations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7937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What reports or dashboards should be generated?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What predictions or recommendations should the system produce?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9202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Alerts &amp; Notifications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Process Automation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326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What events should trigger alerts or automated notifications?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Which steps in the process should be automated by the system?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1015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25526" y="165100"/>
            <a:ext cx="4960874" cy="8635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Project content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75021" y="165100"/>
            <a:ext cx="13097053" cy="86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Project Data Source &amp; Data Collection Info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0" y="165100"/>
            <a:ext cx="6806376" cy="86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Project Process 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0" y="165100"/>
            <a:ext cx="8278429" cy="86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AI Project and Automation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0" y="165100"/>
            <a:ext cx="10010257" cy="86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Equations Generation Workflow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4415312" y="478275"/>
            <a:ext cx="3411600" cy="1559970"/>
          </a:xfrm>
          <a:custGeom>
            <a:avLst/>
            <a:gdLst/>
            <a:ahLst/>
            <a:cxnLst/>
            <a:rect l="l" t="t" r="r" b="b"/>
            <a:pathLst>
              <a:path w="3411600" h="1559970">
                <a:moveTo>
                  <a:pt x="0" y="0"/>
                </a:moveTo>
                <a:lnTo>
                  <a:pt x="3411600" y="0"/>
                </a:lnTo>
                <a:lnTo>
                  <a:pt x="3411600" y="1559970"/>
                </a:lnTo>
                <a:lnTo>
                  <a:pt x="0" y="1559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9687851" y="2921793"/>
            <a:ext cx="6665443" cy="3834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3654"/>
              </a:lnSpc>
            </a:pPr>
            <a:r>
              <a:rPr lang="en-US" sz="11977" b="1">
                <a:solidFill>
                  <a:srgbClr val="1C2C4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THANK</a:t>
            </a:r>
          </a:p>
          <a:p>
            <a:pPr algn="just">
              <a:lnSpc>
                <a:spcPts val="13654"/>
              </a:lnSpc>
            </a:pPr>
            <a:r>
              <a:rPr lang="en-US" sz="11977" b="1">
                <a:solidFill>
                  <a:srgbClr val="1C2C4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YOU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938702" y="9700825"/>
            <a:ext cx="9349298" cy="128116"/>
            <a:chOff x="0" y="0"/>
            <a:chExt cx="2462367" cy="337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62367" cy="33742"/>
            </a:xfrm>
            <a:custGeom>
              <a:avLst/>
              <a:gdLst/>
              <a:ahLst/>
              <a:cxnLst/>
              <a:rect l="l" t="t" r="r" b="b"/>
              <a:pathLst>
                <a:path w="2462367" h="33742">
                  <a:moveTo>
                    <a:pt x="0" y="0"/>
                  </a:moveTo>
                  <a:lnTo>
                    <a:pt x="2462367" y="0"/>
                  </a:lnTo>
                  <a:lnTo>
                    <a:pt x="2462367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33333">
                  <a:srgbClr val="FFFFFF">
                    <a:alpha val="100000"/>
                  </a:srgbClr>
                </a:gs>
                <a:gs pos="66667">
                  <a:srgbClr val="0C6E84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62367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626382" y="9075907"/>
            <a:ext cx="4491445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30387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Your Pathway To Excellence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238</Words>
  <Application>Microsoft Office PowerPoint</Application>
  <PresentationFormat>Custom</PresentationFormat>
  <Paragraphs>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Canva Student Font</vt:lpstr>
      <vt:lpstr>Open Sans Italics</vt:lpstr>
      <vt:lpstr>Calibri</vt:lpstr>
      <vt:lpstr>Open Sans Bold</vt:lpstr>
      <vt:lpstr>Bricolage Grotesque Bold</vt:lpstr>
      <vt:lpstr>Agrandir Wide Bold</vt:lpstr>
      <vt:lpstr>Open Sans</vt:lpstr>
      <vt:lpstr>Canva Sans Bold</vt:lpstr>
      <vt:lpstr>Arial</vt:lpstr>
      <vt:lpstr>Bricolage Grotesque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CHARTER TEMPLATE</dc:title>
  <cp:lastModifiedBy>ALQEDRA AMIR IZZEDDIN AYESH</cp:lastModifiedBy>
  <cp:revision>7</cp:revision>
  <dcterms:created xsi:type="dcterms:W3CDTF">2006-08-16T00:00:00Z</dcterms:created>
  <dcterms:modified xsi:type="dcterms:W3CDTF">2026-05-05T01:55:37Z</dcterms:modified>
  <dc:identifier>DAHIoG0GZb4</dc:identifier>
</cp:coreProperties>
</file>