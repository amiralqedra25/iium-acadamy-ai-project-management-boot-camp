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grandir Wide Bold" panose="020B0604020202020204" charset="0"/>
      <p:regular r:id="rId12"/>
    </p:embeddedFont>
    <p:embeddedFont>
      <p:font typeface="Bricolage Grotesque" panose="020B0604020202020204" charset="0"/>
      <p:regular r:id="rId13"/>
    </p:embeddedFont>
    <p:embeddedFont>
      <p:font typeface="Bricolage Grotesque Bold" panose="020B0604020202020204" charset="0"/>
      <p:regular r:id="rId14"/>
    </p:embeddedFont>
    <p:embeddedFont>
      <p:font typeface="Canva Student Font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  <p:embeddedFont>
      <p:font typeface="Open Sans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397" y="6687239"/>
            <a:ext cx="580089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Requirements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397" y="8329128"/>
            <a:ext cx="939447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 project requirements from user, department, data, and system perspectives.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4397" y="8749237"/>
            <a:ext cx="9394478" cy="83391"/>
            <a:chOff x="0" y="0"/>
            <a:chExt cx="2474266" cy="21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74266" cy="21963"/>
            </a:xfrm>
            <a:custGeom>
              <a:avLst/>
              <a:gdLst/>
              <a:ahLst/>
              <a:cxnLst/>
              <a:rect l="l" t="t" r="r" b="b"/>
              <a:pathLst>
                <a:path w="2474266" h="21963">
                  <a:moveTo>
                    <a:pt x="0" y="0"/>
                  </a:moveTo>
                  <a:lnTo>
                    <a:pt x="2474266" y="0"/>
                  </a:lnTo>
                  <a:lnTo>
                    <a:pt x="2474266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474266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74" y="165100"/>
            <a:ext cx="7373549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Requirement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385599"/>
            <a:ext cx="10401300" cy="38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value proposition explains the specific benefit your AI solution will deliver.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10190266" cy="83391"/>
            <a:chOff x="0" y="0"/>
            <a:chExt cx="2683856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83856" cy="21963"/>
            </a:xfrm>
            <a:custGeom>
              <a:avLst/>
              <a:gdLst/>
              <a:ahLst/>
              <a:cxnLst/>
              <a:rect l="l" t="t" r="r" b="b"/>
              <a:pathLst>
                <a:path w="2683856" h="21963">
                  <a:moveTo>
                    <a:pt x="0" y="0"/>
                  </a:moveTo>
                  <a:lnTo>
                    <a:pt x="2683856" y="0"/>
                  </a:lnTo>
                  <a:lnTo>
                    <a:pt x="2683856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683856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35082" y="3004164"/>
          <a:ext cx="16224218" cy="5467350"/>
        </p:xfrm>
        <a:graphic>
          <a:graphicData uri="http://schemas.openxmlformats.org/drawingml/2006/table">
            <a:tbl>
              <a:tblPr/>
              <a:tblGrid>
                <a:gridCol w="16224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Identify the Project Owner and Person-in-Charge (PIC) for this AI project.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 all departments that will be involved or affected.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Describe the data currently available and where it comes from.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Define functional requirements — what the system must do.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Define user requirements — what users need the system to do for them.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Describe the expected system output — reports, alerts, predictions, or automation.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 the guided questions at the end to ensure nothing is missed.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6543269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Owner &amp; PIC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28700" y="2906697"/>
          <a:ext cx="16230600" cy="4473609"/>
        </p:xfrm>
        <a:graphic>
          <a:graphicData uri="http://schemas.openxmlformats.org/drawingml/2006/table">
            <a:tbl>
              <a:tblPr/>
              <a:tblGrid>
                <a:gridCol w="5171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9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08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Title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8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Owner (Name &amp; Title)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8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Person-in-Charge (PIC)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08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Contact / Email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8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Organisation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08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08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Reporting Manager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7055509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Departments Involved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867348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List all departments that will participate in or be affected by this project.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8537423" cy="83391"/>
            <a:chOff x="0" y="0"/>
            <a:chExt cx="2248539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8539" cy="21963"/>
            </a:xfrm>
            <a:custGeom>
              <a:avLst/>
              <a:gdLst/>
              <a:ahLst/>
              <a:cxnLst/>
              <a:rect l="l" t="t" r="r" b="b"/>
              <a:pathLst>
                <a:path w="2248539" h="21963">
                  <a:moveTo>
                    <a:pt x="0" y="0"/>
                  </a:moveTo>
                  <a:lnTo>
                    <a:pt x="2248539" y="0"/>
                  </a:lnTo>
                  <a:lnTo>
                    <a:pt x="224853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48539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128362" y="2940325"/>
          <a:ext cx="16442046" cy="5392756"/>
        </p:xfrm>
        <a:graphic>
          <a:graphicData uri="http://schemas.openxmlformats.org/drawingml/2006/table">
            <a:tbl>
              <a:tblPr/>
              <a:tblGrid>
                <a:gridCol w="3378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6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66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527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 Name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Role in This Project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Level of Involvement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They Provide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Key Contact Person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10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10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68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9581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4772393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Available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702756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the data that is currently available for this project.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6950558" cy="83391"/>
            <a:chOff x="0" y="0"/>
            <a:chExt cx="1830600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30600" cy="21963"/>
            </a:xfrm>
            <a:custGeom>
              <a:avLst/>
              <a:gdLst/>
              <a:ahLst/>
              <a:cxnLst/>
              <a:rect l="l" t="t" r="r" b="b"/>
              <a:pathLst>
                <a:path w="1830600" h="21963">
                  <a:moveTo>
                    <a:pt x="0" y="0"/>
                  </a:moveTo>
                  <a:lnTo>
                    <a:pt x="1830600" y="0"/>
                  </a:lnTo>
                  <a:lnTo>
                    <a:pt x="183060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3060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128362" y="2940325"/>
          <a:ext cx="16442050" cy="5862054"/>
        </p:xfrm>
        <a:graphic>
          <a:graphicData uri="http://schemas.openxmlformats.org/drawingml/2006/table">
            <a:tbl>
              <a:tblPr/>
              <a:tblGrid>
                <a:gridCol w="2818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24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45211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Source Name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Type (Structured/Unstructured)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Owner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Availability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File Format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Update Frequency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894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894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542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940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8115300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Functional Requirements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878016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must the system DO? List the key functions or capabilities required.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8653216" cy="83391"/>
            <a:chOff x="0" y="0"/>
            <a:chExt cx="2279036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79036" cy="21963"/>
            </a:xfrm>
            <a:custGeom>
              <a:avLst/>
              <a:gdLst/>
              <a:ahLst/>
              <a:cxnLst/>
              <a:rect l="l" t="t" r="r" b="b"/>
              <a:pathLst>
                <a:path w="2279036" h="21963">
                  <a:moveTo>
                    <a:pt x="0" y="0"/>
                  </a:moveTo>
                  <a:lnTo>
                    <a:pt x="2279036" y="0"/>
                  </a:lnTo>
                  <a:lnTo>
                    <a:pt x="2279036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79036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922976" y="2868771"/>
          <a:ext cx="16442048" cy="5959665"/>
        </p:xfrm>
        <a:graphic>
          <a:graphicData uri="http://schemas.openxmlformats.org/drawingml/2006/table">
            <a:tbl>
              <a:tblPr/>
              <a:tblGrid>
                <a:gridCol w="71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9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0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1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512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#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Functional Requirement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Remarks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Priority (H/M/L)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Responsible Department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893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893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688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841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3536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1688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6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6222293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User Requirements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9583011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do the users need the system to do? Describe from the user's perspective.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9472214" cy="83391"/>
            <a:chOff x="0" y="0"/>
            <a:chExt cx="2494740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94740" cy="21963"/>
            </a:xfrm>
            <a:custGeom>
              <a:avLst/>
              <a:gdLst/>
              <a:ahLst/>
              <a:cxnLst/>
              <a:rect l="l" t="t" r="r" b="b"/>
              <a:pathLst>
                <a:path w="2494740" h="21963">
                  <a:moveTo>
                    <a:pt x="0" y="0"/>
                  </a:moveTo>
                  <a:lnTo>
                    <a:pt x="2494740" y="0"/>
                  </a:lnTo>
                  <a:lnTo>
                    <a:pt x="249474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9474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128362" y="2940325"/>
          <a:ext cx="16442048" cy="5392756"/>
        </p:xfrm>
        <a:graphic>
          <a:graphicData uri="http://schemas.openxmlformats.org/drawingml/2006/table">
            <a:tbl>
              <a:tblPr/>
              <a:tblGrid>
                <a:gridCol w="42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527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User Role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User Need / Requirement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Workaround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Acceptance Criteria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10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107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68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9581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7821060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Expected System 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218" y="1524630"/>
            <a:ext cx="6839090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what the AI system should produce or generate.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6738797" cy="83391"/>
            <a:chOff x="0" y="0"/>
            <a:chExt cx="1774827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4827" cy="21963"/>
            </a:xfrm>
            <a:custGeom>
              <a:avLst/>
              <a:gdLst/>
              <a:ahLst/>
              <a:cxnLst/>
              <a:rect l="l" t="t" r="r" b="b"/>
              <a:pathLst>
                <a:path w="1774827" h="21963">
                  <a:moveTo>
                    <a:pt x="0" y="0"/>
                  </a:moveTo>
                  <a:lnTo>
                    <a:pt x="1774827" y="0"/>
                  </a:lnTo>
                  <a:lnTo>
                    <a:pt x="1774827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74827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974170" y="2525871"/>
          <a:ext cx="16285131" cy="6732430"/>
        </p:xfrm>
        <a:graphic>
          <a:graphicData uri="http://schemas.openxmlformats.org/drawingml/2006/table">
            <a:tbl>
              <a:tblPr/>
              <a:tblGrid>
                <a:gridCol w="820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96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Reports &amp; Dashboards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Predictions &amp; Recommendations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93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reports or dashboards should be generated?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predictions or recommendations should the system produce?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202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Alerts &amp; Notifications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Process Automation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2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events should trigger alerts or automated notifications?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steps in the process should be automated by the system?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9752301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Guided Requirement Questions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170" y="1524630"/>
            <a:ext cx="7433548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these questions to verify your requirements are complete.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7336022" cy="83391"/>
            <a:chOff x="0" y="0"/>
            <a:chExt cx="1932121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32121" cy="21963"/>
            </a:xfrm>
            <a:custGeom>
              <a:avLst/>
              <a:gdLst/>
              <a:ahLst/>
              <a:cxnLst/>
              <a:rect l="l" t="t" r="r" b="b"/>
              <a:pathLst>
                <a:path w="1932121" h="21963">
                  <a:moveTo>
                    <a:pt x="0" y="0"/>
                  </a:moveTo>
                  <a:lnTo>
                    <a:pt x="1932121" y="0"/>
                  </a:lnTo>
                  <a:lnTo>
                    <a:pt x="1932121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32121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01435" y="2966670"/>
          <a:ext cx="16285131" cy="5759956"/>
        </p:xfrm>
        <a:graphic>
          <a:graphicData uri="http://schemas.openxmlformats.org/drawingml/2006/table">
            <a:tbl>
              <a:tblPr/>
              <a:tblGrid>
                <a:gridCol w="820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82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Who is the PIC?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data do they have?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4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Name the person responsible for managing and delivering this project.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List the data sources, formats, and ownership clearly.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82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departments are involved?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is the current process flow?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73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Identify all teams that will contribute data, resources, or decisions.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Can you map the steps from input to output in the current process?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82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output should the system produce?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decisions should the solution support?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971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Is the expected output a report, alert, prediction, or automated action?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operational or strategic decisions will this solution improve?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687851" y="2921793"/>
            <a:ext cx="6665443" cy="38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38702" y="9700825"/>
            <a:ext cx="9349298" cy="128116"/>
            <a:chOff x="0" y="0"/>
            <a:chExt cx="2462367" cy="33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367" cy="33742"/>
            </a:xfrm>
            <a:custGeom>
              <a:avLst/>
              <a:gdLst/>
              <a:ahLst/>
              <a:cxnLst/>
              <a:rect l="l" t="t" r="r" b="b"/>
              <a:pathLst>
                <a:path w="2462367" h="33742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Microsoft Office PowerPoint</Application>
  <PresentationFormat>Custom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Bricolage Grotesque</vt:lpstr>
      <vt:lpstr>Open Sans</vt:lpstr>
      <vt:lpstr>Calibri</vt:lpstr>
      <vt:lpstr>Open Sans Italics</vt:lpstr>
      <vt:lpstr>Bricolage Grotesque Bold</vt:lpstr>
      <vt:lpstr>Open Sans Bold</vt:lpstr>
      <vt:lpstr>Agrandir Wide Bold</vt:lpstr>
      <vt:lpstr>Arial</vt:lpstr>
      <vt:lpstr>Canva Student Font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TEMPLATE</dc:title>
  <cp:lastModifiedBy>ALQEDRA AMIR IZZEDDIN AYESH</cp:lastModifiedBy>
  <cp:revision>2</cp:revision>
  <dcterms:created xsi:type="dcterms:W3CDTF">2006-08-16T00:00:00Z</dcterms:created>
  <dcterms:modified xsi:type="dcterms:W3CDTF">2026-05-01T03:32:46Z</dcterms:modified>
  <dc:identifier>DAHIYl_2mUk</dc:identifier>
</cp:coreProperties>
</file>