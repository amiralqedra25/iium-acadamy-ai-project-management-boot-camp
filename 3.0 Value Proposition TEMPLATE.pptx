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grandir Wide Bold" panose="020B0604020202020204" charset="0"/>
      <p:regular r:id="rId11"/>
    </p:embeddedFont>
    <p:embeddedFont>
      <p:font typeface="Arimo Italics" panose="020B0604020202020204" charset="0"/>
      <p:regular r:id="rId12"/>
    </p:embeddedFont>
    <p:embeddedFont>
      <p:font typeface="Bricolage Grotesque" panose="020B0604020202020204" charset="0"/>
      <p:regular r:id="rId13"/>
    </p:embeddedFont>
    <p:embeddedFont>
      <p:font typeface="Bricolage Grotesque Bold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Canva Student Font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806030504020204" charset="0"/>
      <p:regular r:id="rId18"/>
    </p:embeddedFont>
    <p:embeddedFont>
      <p:font typeface="Open Sans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397" y="6687239"/>
            <a:ext cx="741960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Value Proposition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397" y="8314000"/>
            <a:ext cx="898936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Explain why your proposed AI project is valuable and what benefits it will create.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4397" y="8749237"/>
            <a:ext cx="8989368" cy="83391"/>
            <a:chOff x="0" y="0"/>
            <a:chExt cx="2367570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7570" cy="21963"/>
            </a:xfrm>
            <a:custGeom>
              <a:avLst/>
              <a:gdLst/>
              <a:ahLst/>
              <a:cxnLst/>
              <a:rect l="l" t="t" r="r" b="b"/>
              <a:pathLst>
                <a:path w="2367570" h="21963">
                  <a:moveTo>
                    <a:pt x="0" y="0"/>
                  </a:moveTo>
                  <a:lnTo>
                    <a:pt x="2367570" y="0"/>
                  </a:lnTo>
                  <a:lnTo>
                    <a:pt x="236757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6757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123950" y="2179378"/>
          <a:ext cx="16040100" cy="7142490"/>
        </p:xfrm>
        <a:graphic>
          <a:graphicData uri="http://schemas.openxmlformats.org/drawingml/2006/table">
            <a:tbl>
              <a:tblPr/>
              <a:tblGrid>
                <a:gridCol w="63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5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1195">
                <a:tc gridSpan="2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1C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Title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894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Identify the pain points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the specific difficulties caused by the current problem.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94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Define the target stakeholders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users or stakeholders who will benefit from the AI solution.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8411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Describe the proposed solution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AI or data analytics solution in simple, non-technical terms.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7380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 the expected value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time savings, cost reduction, productivity improvement, or better decisions.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7608"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Complete the impact summary 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to give a quick overview for decision-makers</a:t>
                      </a:r>
                      <a:endParaRPr lang="en-US" sz="1100"/>
                    </a:p>
                  </a:txBody>
                  <a:tcPr marL="142875" marR="142875" marT="142875" marB="14287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028700" y="165100"/>
            <a:ext cx="374451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Instructions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385599"/>
            <a:ext cx="10325100" cy="38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value proposition explains the specific benefit your AI solution will deliver.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1909081"/>
            <a:ext cx="10190266" cy="83391"/>
            <a:chOff x="0" y="0"/>
            <a:chExt cx="2683856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83856" cy="21963"/>
            </a:xfrm>
            <a:custGeom>
              <a:avLst/>
              <a:gdLst/>
              <a:ahLst/>
              <a:cxnLst/>
              <a:rect l="l" t="t" r="r" b="b"/>
              <a:pathLst>
                <a:path w="2683856" h="21963">
                  <a:moveTo>
                    <a:pt x="0" y="0"/>
                  </a:moveTo>
                  <a:lnTo>
                    <a:pt x="2683856" y="0"/>
                  </a:lnTo>
                  <a:lnTo>
                    <a:pt x="268385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83856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904767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Value Proposition Worksheet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170" y="1524630"/>
            <a:ext cx="545234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the value proposition canvas below: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5367512" cy="83391"/>
            <a:chOff x="0" y="0"/>
            <a:chExt cx="1413666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13666" cy="21963"/>
            </a:xfrm>
            <a:custGeom>
              <a:avLst/>
              <a:gdLst/>
              <a:ahLst/>
              <a:cxnLst/>
              <a:rect l="l" t="t" r="r" b="b"/>
              <a:pathLst>
                <a:path w="1413666" h="21963">
                  <a:moveTo>
                    <a:pt x="0" y="0"/>
                  </a:moveTo>
                  <a:lnTo>
                    <a:pt x="1413666" y="0"/>
                  </a:lnTo>
                  <a:lnTo>
                    <a:pt x="1413666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13666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974170" y="2525871"/>
          <a:ext cx="16285131" cy="6732430"/>
        </p:xfrm>
        <a:graphic>
          <a:graphicData uri="http://schemas.openxmlformats.org/drawingml/2006/table">
            <a:tbl>
              <a:tblPr/>
              <a:tblGrid>
                <a:gridCol w="820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96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Pain Points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Users / Stakeholders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93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are the main difficulties, inefficiencies, or risks with the current task?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Who experiences these pain points? Who will benefit from the solution?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202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Proposed AI / Data Analytics Solution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Expected Value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26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AI tool, model, or data system will address the problem?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specific improvements will the solution deliver?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81915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Pain Points &amp; Target Users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658560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Detail the specific pain points and who is most affected.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6556223" cy="83391"/>
            <a:chOff x="0" y="0"/>
            <a:chExt cx="1726742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26742" cy="21963"/>
            </a:xfrm>
            <a:custGeom>
              <a:avLst/>
              <a:gdLst/>
              <a:ahLst/>
              <a:cxnLst/>
              <a:rect l="l" t="t" r="r" b="b"/>
              <a:pathLst>
                <a:path w="1726742" h="21963">
                  <a:moveTo>
                    <a:pt x="0" y="0"/>
                  </a:moveTo>
                  <a:lnTo>
                    <a:pt x="1726742" y="0"/>
                  </a:lnTo>
                  <a:lnTo>
                    <a:pt x="172674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26742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817252" y="2331270"/>
          <a:ext cx="16442048" cy="6902640"/>
        </p:xfrm>
        <a:graphic>
          <a:graphicData uri="http://schemas.openxmlformats.org/drawingml/2006/table">
            <a:tbl>
              <a:tblPr/>
              <a:tblGrid>
                <a:gridCol w="891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4934">
                <a:tc gridSpan="4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Pain Points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Pain Points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Pain Points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Pain Points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78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Pain Point Description</a:t>
                      </a: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Severity (H/M/L)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Frequency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7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7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82677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Pain Points &amp; Target Users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658560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Detail the specific pain points and who is most affected.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6556223" cy="83391"/>
            <a:chOff x="0" y="0"/>
            <a:chExt cx="1726742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26742" cy="21963"/>
            </a:xfrm>
            <a:custGeom>
              <a:avLst/>
              <a:gdLst/>
              <a:ahLst/>
              <a:cxnLst/>
              <a:rect l="l" t="t" r="r" b="b"/>
              <a:pathLst>
                <a:path w="1726742" h="21963">
                  <a:moveTo>
                    <a:pt x="0" y="0"/>
                  </a:moveTo>
                  <a:lnTo>
                    <a:pt x="1726742" y="0"/>
                  </a:lnTo>
                  <a:lnTo>
                    <a:pt x="172674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26742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143479" y="2385641"/>
          <a:ext cx="16442048" cy="6902640"/>
        </p:xfrm>
        <a:graphic>
          <a:graphicData uri="http://schemas.openxmlformats.org/drawingml/2006/table">
            <a:tbl>
              <a:tblPr/>
              <a:tblGrid>
                <a:gridCol w="4423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3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1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4934">
                <a:tc gridSpan="4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Users / Stakeholders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Users / Stakeholders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Users / Stakeholders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Users / Stakeholders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278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User / Role</a:t>
                      </a: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Challenge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Expected Benefit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71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71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150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1155282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Proposed AI / Data Analytics Solution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1909081"/>
            <a:ext cx="6488448" cy="83391"/>
            <a:chOff x="0" y="0"/>
            <a:chExt cx="1708892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08892" cy="21963"/>
            </a:xfrm>
            <a:custGeom>
              <a:avLst/>
              <a:gdLst/>
              <a:ahLst/>
              <a:cxnLst/>
              <a:rect l="l" t="t" r="r" b="b"/>
              <a:pathLst>
                <a:path w="1708892" h="21963">
                  <a:moveTo>
                    <a:pt x="0" y="0"/>
                  </a:moveTo>
                  <a:lnTo>
                    <a:pt x="1708892" y="0"/>
                  </a:lnTo>
                  <a:lnTo>
                    <a:pt x="170889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08892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028700" y="2496759"/>
          <a:ext cx="16230600" cy="6571665"/>
        </p:xfrm>
        <a:graphic>
          <a:graphicData uri="http://schemas.openxmlformats.org/drawingml/2006/table">
            <a:tbl>
              <a:tblPr/>
              <a:tblGrid>
                <a:gridCol w="663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Solution Name or Type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Predictive model, automated dashboard, NLP classifier, RPA bot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Description of the Solution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Explain what the solution will do in simple terms (2–3 sentences)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Features or Capabilities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List 3–5 key things the solution can do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Technology / Platform (if known)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Python, Power BI, Azure ML, ChatGPT API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333">
                <a:tc>
                  <a:txBody>
                    <a:bodyPr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Integration with Existing Systems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Which existing systems or data sources will this connect to?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484295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Expected Value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170" y="1524630"/>
            <a:ext cx="71439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Estimate the specific improvements this solution will deliver.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7059797" cy="83391"/>
            <a:chOff x="0" y="0"/>
            <a:chExt cx="1859371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59371" cy="21963"/>
            </a:xfrm>
            <a:custGeom>
              <a:avLst/>
              <a:gdLst/>
              <a:ahLst/>
              <a:cxnLst/>
              <a:rect l="l" t="t" r="r" b="b"/>
              <a:pathLst>
                <a:path w="1859371" h="21963">
                  <a:moveTo>
                    <a:pt x="0" y="0"/>
                  </a:moveTo>
                  <a:lnTo>
                    <a:pt x="1859371" y="0"/>
                  </a:lnTo>
                  <a:lnTo>
                    <a:pt x="1859371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59371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974170" y="2354421"/>
          <a:ext cx="16285131" cy="6807211"/>
        </p:xfrm>
        <a:graphic>
          <a:graphicData uri="http://schemas.openxmlformats.org/drawingml/2006/table">
            <a:tbl>
              <a:tblPr/>
              <a:tblGrid>
                <a:gridCol w="8202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707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Operational Benefit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Time Saving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08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will daily operations improve?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many hours per week/month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043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Cost Reduction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Productivity Improvement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669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Estimate cost savings per month or year (RM or %)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more output per person or team?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278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Decision-Making Improvement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Other Benefits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202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will decisions become faster, more accurate, or more data-driven?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Any other qualitative or quantitative benefits?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5393061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Impact Summary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524630"/>
            <a:ext cx="645265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quick overview of the value this project will deliver.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6303994" cy="83391"/>
            <a:chOff x="0" y="0"/>
            <a:chExt cx="1660311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60311" cy="21963"/>
            </a:xfrm>
            <a:custGeom>
              <a:avLst/>
              <a:gdLst/>
              <a:ahLst/>
              <a:cxnLst/>
              <a:rect l="l" t="t" r="r" b="b"/>
              <a:pathLst>
                <a:path w="1660311" h="21963">
                  <a:moveTo>
                    <a:pt x="0" y="0"/>
                  </a:moveTo>
                  <a:lnTo>
                    <a:pt x="1660311" y="0"/>
                  </a:lnTo>
                  <a:lnTo>
                    <a:pt x="1660311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60311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4003530"/>
          <a:ext cx="16230600" cy="5254771"/>
        </p:xfrm>
        <a:graphic>
          <a:graphicData uri="http://schemas.openxmlformats.org/drawingml/2006/table">
            <a:tbl>
              <a:tblPr/>
              <a:tblGrid>
                <a:gridCol w="5171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9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2188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Primary beneficiaries: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70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time saving per week: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258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Expected productivity improvement: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741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Decision-making improvement: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8877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Readiness for implementation </a:t>
                      </a: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(High / Medium / Low):</a:t>
                      </a:r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028700" y="2487771"/>
            <a:ext cx="414798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One-Sentence Value Proposition: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2968661"/>
            <a:ext cx="16230600" cy="867229"/>
            <a:chOff x="0" y="0"/>
            <a:chExt cx="4274726" cy="2284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74726" cy="228406"/>
            </a:xfrm>
            <a:custGeom>
              <a:avLst/>
              <a:gdLst/>
              <a:ahLst/>
              <a:cxnLst/>
              <a:rect l="l" t="t" r="r" b="b"/>
              <a:pathLst>
                <a:path w="4274726" h="228406">
                  <a:moveTo>
                    <a:pt x="0" y="0"/>
                  </a:moveTo>
                  <a:lnTo>
                    <a:pt x="4274726" y="0"/>
                  </a:lnTo>
                  <a:lnTo>
                    <a:pt x="4274726" y="228406"/>
                  </a:lnTo>
                  <a:lnTo>
                    <a:pt x="0" y="228406"/>
                  </a:lnTo>
                  <a:close/>
                </a:path>
              </a:pathLst>
            </a:custGeom>
            <a:solidFill>
              <a:srgbClr val="EEF4F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274726" cy="266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r>
                <a:rPr lang="en-US" sz="1899" i="1">
                  <a:solidFill>
                    <a:srgbClr val="000000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e.g. This solution will [do X] for [user group], reducing [time/cost] by [amount] and improving [outcome].</a:t>
              </a:r>
            </a:p>
            <a:p>
              <a:pPr algn="ctr">
                <a:lnSpc>
                  <a:spcPts val="2659"/>
                </a:lnSpc>
              </a:pPr>
              <a:endParaRPr lang="en-US" sz="18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Custom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Open Sans Bold</vt:lpstr>
      <vt:lpstr>Bricolage Grotesque Bold</vt:lpstr>
      <vt:lpstr>Canva Sans Bold</vt:lpstr>
      <vt:lpstr>Calibri</vt:lpstr>
      <vt:lpstr>Open Sans</vt:lpstr>
      <vt:lpstr>Canva Student Font</vt:lpstr>
      <vt:lpstr>Bricolage Grotesque</vt:lpstr>
      <vt:lpstr>Arial</vt:lpstr>
      <vt:lpstr>Agrandir Wide Bold</vt:lpstr>
      <vt:lpstr>Arimo Italics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Proposition TEMPLATE</dc:title>
  <cp:lastModifiedBy>ALQEDRA AMIR IZZEDDIN AYESH</cp:lastModifiedBy>
  <cp:revision>2</cp:revision>
  <dcterms:created xsi:type="dcterms:W3CDTF">2006-08-16T00:00:00Z</dcterms:created>
  <dcterms:modified xsi:type="dcterms:W3CDTF">2026-05-01T03:33:36Z</dcterms:modified>
  <dc:identifier>DAHIWD_bT68</dc:identifier>
</cp:coreProperties>
</file>