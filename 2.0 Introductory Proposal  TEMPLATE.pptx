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Agrandir Wide Bold" panose="020B0604020202020204" charset="0"/>
      <p:regular r:id="rId10"/>
    </p:embeddedFont>
    <p:embeddedFont>
      <p:font typeface="Arimo Italics" panose="020B0604020202020204" charset="0"/>
      <p:regular r:id="rId11"/>
    </p:embeddedFont>
    <p:embeddedFont>
      <p:font typeface="Bricolage Grotesque" panose="020B0604020202020204" charset="0"/>
      <p:regular r:id="rId12"/>
    </p:embeddedFont>
    <p:embeddedFont>
      <p:font typeface="Bricolage Grotesque Bold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anva Student Font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</p:embeddedFont>
    <p:embeddedFont>
      <p:font typeface="Open Sans Bold" panose="020B0806030504020204" pitchFamily="34" charset="0"/>
      <p:regular r:id="rId18"/>
      <p:bold r:id="rId19"/>
    </p:embeddedFont>
    <p:embeddedFont>
      <p:font typeface="Open Sa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72111"/>
            <a:ext cx="931917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Introductory Proposal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302142"/>
            <a:ext cx="785455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your project background before moving into detailed planning.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7854553" cy="83391"/>
            <a:chOff x="0" y="0"/>
            <a:chExt cx="2068689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8689" cy="21963"/>
            </a:xfrm>
            <a:custGeom>
              <a:avLst/>
              <a:gdLst/>
              <a:ahLst/>
              <a:cxnLst/>
              <a:rect l="l" t="t" r="r" b="b"/>
              <a:pathLst>
                <a:path w="2068689" h="21963">
                  <a:moveTo>
                    <a:pt x="0" y="0"/>
                  </a:moveTo>
                  <a:lnTo>
                    <a:pt x="2068689" y="0"/>
                  </a:lnTo>
                  <a:lnTo>
                    <a:pt x="206868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6868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1AD-E4EF-CB6B-3359-DFF18EA4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469629-35C4-D6B2-3B6E-5BBC82E1E686}"/>
              </a:ext>
            </a:extLst>
          </p:cNvPr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17565A-0767-300B-DB18-A229FC0AC1C3}"/>
                </a:ext>
              </a:extLst>
            </p:cNvPr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CF0BEE8-0642-8BD3-3640-D7545BB340C6}"/>
                </a:ext>
              </a:extLst>
            </p:cNvPr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235C7C4-2FF4-17D5-2BCC-F8963DE3C41C}"/>
              </a:ext>
            </a:extLst>
          </p:cNvPr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EC901C3-ABD4-4A67-8042-F4C2876826C0}"/>
              </a:ext>
            </a:extLst>
          </p:cNvPr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8BDFF9B-CC2B-A40B-3E31-BE25466F44E7}"/>
                </a:ext>
              </a:extLst>
            </p:cNvPr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7EC3F6E-E07D-AC26-D2CC-AAEFA21208D2}"/>
                </a:ext>
              </a:extLst>
            </p:cNvPr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F5ADC79-DD6C-FAB8-CDA7-E087935CA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492755"/>
              </p:ext>
            </p:extLst>
          </p:nvPr>
        </p:nvGraphicFramePr>
        <p:xfrm>
          <a:off x="1123950" y="2179378"/>
          <a:ext cx="16040100" cy="6544577"/>
        </p:xfrm>
        <a:graphic>
          <a:graphicData uri="http://schemas.openxmlformats.org/drawingml/2006/table">
            <a:tbl>
              <a:tblPr/>
              <a:tblGrid>
                <a:gridCol w="63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1715">
                <a:tc gridSpan="2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Ranking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619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1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Project title selected from the individual project listing based on ranking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619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2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Project title selected from the individual project listing based on ranking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023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3</a:t>
                      </a: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Project title selected from the individual project listing based on ranking</a:t>
                      </a:r>
                      <a:endParaRPr lang="en-US" sz="1100" dirty="0"/>
                    </a:p>
                    <a:p>
                      <a:pPr algn="l">
                        <a:lnSpc>
                          <a:spcPts val="2940"/>
                        </a:lnSpc>
                      </a:pP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46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4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ts val="4200"/>
                        </a:lnSpc>
                      </a:pPr>
                      <a:endParaRPr lang="en-US" sz="1100" dirty="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Project title selected from the individual project listing based on ranking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0">
            <a:extLst>
              <a:ext uri="{FF2B5EF4-FFF2-40B4-BE49-F238E27FC236}">
                <a16:creationId xmlns:a16="http://schemas.microsoft.com/office/drawing/2014/main" id="{88908134-BE86-0C21-81CC-903E346FB5C6}"/>
              </a:ext>
            </a:extLst>
          </p:cNvPr>
          <p:cNvSpPr txBox="1"/>
          <p:nvPr/>
        </p:nvSpPr>
        <p:spPr>
          <a:xfrm>
            <a:off x="1028700" y="165100"/>
            <a:ext cx="53721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Selected Project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9D3C00-01EE-AC80-262E-5536800D962D}"/>
              </a:ext>
            </a:extLst>
          </p:cNvPr>
          <p:cNvSpPr txBox="1"/>
          <p:nvPr/>
        </p:nvSpPr>
        <p:spPr>
          <a:xfrm>
            <a:off x="1028700" y="1385599"/>
            <a:ext cx="1004375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Department: 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32C3914-FCC1-E499-9245-6F2B0192134B}"/>
              </a:ext>
            </a:extLst>
          </p:cNvPr>
          <p:cNvGrpSpPr/>
          <p:nvPr/>
        </p:nvGrpSpPr>
        <p:grpSpPr>
          <a:xfrm>
            <a:off x="1028700" y="1909081"/>
            <a:ext cx="9939213" cy="83391"/>
            <a:chOff x="0" y="0"/>
            <a:chExt cx="2617735" cy="2196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623A172-0B7E-3D67-1E28-1F83225DC317}"/>
                </a:ext>
              </a:extLst>
            </p:cNvPr>
            <p:cNvSpPr/>
            <p:nvPr/>
          </p:nvSpPr>
          <p:spPr>
            <a:xfrm>
              <a:off x="0" y="0"/>
              <a:ext cx="2617735" cy="21963"/>
            </a:xfrm>
            <a:custGeom>
              <a:avLst/>
              <a:gdLst/>
              <a:ahLst/>
              <a:cxnLst/>
              <a:rect l="l" t="t" r="r" b="b"/>
              <a:pathLst>
                <a:path w="2617735" h="21963">
                  <a:moveTo>
                    <a:pt x="0" y="0"/>
                  </a:moveTo>
                  <a:lnTo>
                    <a:pt x="2617735" y="0"/>
                  </a:lnTo>
                  <a:lnTo>
                    <a:pt x="2617735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776FEF2-181E-854B-3CDD-0B2AD344D41B}"/>
                </a:ext>
              </a:extLst>
            </p:cNvPr>
            <p:cNvSpPr txBox="1"/>
            <p:nvPr/>
          </p:nvSpPr>
          <p:spPr>
            <a:xfrm>
              <a:off x="0" y="-38100"/>
              <a:ext cx="2617735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0545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23950" y="2179378"/>
          <a:ext cx="16040100" cy="6544577"/>
        </p:xfrm>
        <a:graphic>
          <a:graphicData uri="http://schemas.openxmlformats.org/drawingml/2006/table">
            <a:tbl>
              <a:tblPr/>
              <a:tblGrid>
                <a:gridCol w="63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1715">
                <a:tc gridSpan="2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619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stakeholders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Who are involved, affected, approving, or using the solution?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619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Problem statement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What problem is currently affecting the department/process?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023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should the project achieve? List measurable objectives.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460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process/procedure</a:t>
                      </a:r>
                      <a:endParaRPr lang="en-US" sz="1100"/>
                    </a:p>
                    <a:p>
                      <a:pPr algn="l">
                        <a:lnSpc>
                          <a:spcPts val="4200"/>
                        </a:lnSpc>
                      </a:pP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is the process currently performed? Note pain points and manual steps.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28700" y="165100"/>
            <a:ext cx="374451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Instructions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1004375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template helps you describe the basic background of your AI project.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9939213" cy="83391"/>
            <a:chOff x="0" y="0"/>
            <a:chExt cx="2617735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17735" cy="21963"/>
            </a:xfrm>
            <a:custGeom>
              <a:avLst/>
              <a:gdLst/>
              <a:ahLst/>
              <a:cxnLst/>
              <a:rect l="l" t="t" r="r" b="b"/>
              <a:pathLst>
                <a:path w="2617735" h="21963">
                  <a:moveTo>
                    <a:pt x="0" y="0"/>
                  </a:moveTo>
                  <a:lnTo>
                    <a:pt x="2617735" y="0"/>
                  </a:lnTo>
                  <a:lnTo>
                    <a:pt x="2617735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17735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77929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Stakeholders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4630"/>
            <a:ext cx="534328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 is involved in or affected by this project?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5343287" cy="83391"/>
            <a:chOff x="0" y="0"/>
            <a:chExt cx="1407286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7286" cy="21963"/>
            </a:xfrm>
            <a:custGeom>
              <a:avLst/>
              <a:gdLst/>
              <a:ahLst/>
              <a:cxnLst/>
              <a:rect l="l" t="t" r="r" b="b"/>
              <a:pathLst>
                <a:path w="1407286" h="21963">
                  <a:moveTo>
                    <a:pt x="0" y="0"/>
                  </a:moveTo>
                  <a:lnTo>
                    <a:pt x="1407286" y="0"/>
                  </a:lnTo>
                  <a:lnTo>
                    <a:pt x="140728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0728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28362" y="2940325"/>
          <a:ext cx="16442048" cy="5392756"/>
        </p:xfrm>
        <a:graphic>
          <a:graphicData uri="http://schemas.openxmlformats.org/drawingml/2006/table">
            <a:tbl>
              <a:tblPr/>
              <a:tblGrid>
                <a:gridCol w="42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527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Stakeholder Name / Role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Level of Involvement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Interest or Concern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68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58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605741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4630"/>
            <a:ext cx="648844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Clearly describe the problem this project aims to solve.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6488448" cy="83391"/>
            <a:chOff x="0" y="0"/>
            <a:chExt cx="1708892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8892" cy="21963"/>
            </a:xfrm>
            <a:custGeom>
              <a:avLst/>
              <a:gdLst/>
              <a:ahLst/>
              <a:cxnLst/>
              <a:rect l="l" t="t" r="r" b="b"/>
              <a:pathLst>
                <a:path w="1708892" h="21963">
                  <a:moveTo>
                    <a:pt x="0" y="0"/>
                  </a:moveTo>
                  <a:lnTo>
                    <a:pt x="1708892" y="0"/>
                  </a:lnTo>
                  <a:lnTo>
                    <a:pt x="170889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0889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496759"/>
          <a:ext cx="16230600" cy="6571663"/>
        </p:xfrm>
        <a:graphic>
          <a:graphicData uri="http://schemas.openxmlformats.org/drawingml/2006/table">
            <a:tbl>
              <a:tblPr/>
              <a:tblGrid>
                <a:gridCol w="663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is the current problem or challenge?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Who is affected by this problem?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is the impact if this problem is not solved?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evidence or data supports the existence of this problem?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Problem Statement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341757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4630"/>
            <a:ext cx="971492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what this AI project should achieve. Use SMART objectives where possible.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9636571" cy="83391"/>
            <a:chOff x="0" y="0"/>
            <a:chExt cx="2538027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38027" cy="21963"/>
            </a:xfrm>
            <a:custGeom>
              <a:avLst/>
              <a:gdLst/>
              <a:ahLst/>
              <a:cxnLst/>
              <a:rect l="l" t="t" r="r" b="b"/>
              <a:pathLst>
                <a:path w="2538027" h="21963">
                  <a:moveTo>
                    <a:pt x="0" y="0"/>
                  </a:moveTo>
                  <a:lnTo>
                    <a:pt x="2538027" y="0"/>
                  </a:lnTo>
                  <a:lnTo>
                    <a:pt x="2538027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38027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14663" y="9377609"/>
            <a:ext cx="707278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SMART = Specific · Measurable · Achievable · Relevant · Time-bound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28700" y="2496759"/>
          <a:ext cx="16230600" cy="6571663"/>
        </p:xfrm>
        <a:graphic>
          <a:graphicData uri="http://schemas.openxmlformats.org/drawingml/2006/table">
            <a:tbl>
              <a:tblPr/>
              <a:tblGrid>
                <a:gridCol w="498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1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2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3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4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5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76011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Current Process / Procedure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4630"/>
            <a:ext cx="703317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how the task is currently performed, step by step.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6977333" cy="83391"/>
            <a:chOff x="0" y="0"/>
            <a:chExt cx="1837652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7652" cy="21963"/>
            </a:xfrm>
            <a:custGeom>
              <a:avLst/>
              <a:gdLst/>
              <a:ahLst/>
              <a:cxnLst/>
              <a:rect l="l" t="t" r="r" b="b"/>
              <a:pathLst>
                <a:path w="1837652" h="21963">
                  <a:moveTo>
                    <a:pt x="0" y="0"/>
                  </a:moveTo>
                  <a:lnTo>
                    <a:pt x="1837652" y="0"/>
                  </a:lnTo>
                  <a:lnTo>
                    <a:pt x="183765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3765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14663" y="9377609"/>
            <a:ext cx="707278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SMART = Specific · Measurable · Achievable · Relevant · Time-bound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28700" y="2496759"/>
          <a:ext cx="16230600" cy="6323220"/>
        </p:xfrm>
        <a:graphic>
          <a:graphicData uri="http://schemas.openxmlformats.org/drawingml/2006/table">
            <a:tbl>
              <a:tblPr/>
              <a:tblGrid>
                <a:gridCol w="498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1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2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3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4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5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3870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Step 6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303</Words>
  <Application>Microsoft Office PowerPoint</Application>
  <PresentationFormat>Custom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Arimo Italics</vt:lpstr>
      <vt:lpstr>Open Sans Italics</vt:lpstr>
      <vt:lpstr>Calibri</vt:lpstr>
      <vt:lpstr>Canva Student Font</vt:lpstr>
      <vt:lpstr>Canva Sans Bold</vt:lpstr>
      <vt:lpstr>Open Sans</vt:lpstr>
      <vt:lpstr>Open Sans Bold</vt:lpstr>
      <vt:lpstr>Agrandir Wide Bold</vt:lpstr>
      <vt:lpstr>Bricolage Grotesque Bold</vt:lpstr>
      <vt:lpstr>Bricolage Grotesque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Proposal  TEMPLATE</dc:title>
  <cp:lastModifiedBy>ALQEDRA AMIR IZZEDDIN AYESH</cp:lastModifiedBy>
  <cp:revision>2</cp:revision>
  <dcterms:created xsi:type="dcterms:W3CDTF">2006-08-16T00:00:00Z</dcterms:created>
  <dcterms:modified xsi:type="dcterms:W3CDTF">2026-05-04T02:28:20Z</dcterms:modified>
  <dc:identifier>DAHIUUxZROQ</dc:identifier>
</cp:coreProperties>
</file>