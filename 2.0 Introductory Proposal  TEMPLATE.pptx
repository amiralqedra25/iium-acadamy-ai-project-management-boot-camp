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Canva Student Font" charset="1" panose="00000000000000000000"/>
      <p:regular r:id="rId13"/>
    </p:embeddedFont>
    <p:embeddedFont>
      <p:font typeface="Bricolage Grotesque" charset="1" panose="020B0605040402000204"/>
      <p:regular r:id="rId14"/>
    </p:embeddedFont>
    <p:embeddedFont>
      <p:font typeface="Open Sans" charset="1" panose="020B0606030504020204"/>
      <p:regular r:id="rId15"/>
    </p:embeddedFont>
    <p:embeddedFont>
      <p:font typeface="Open Sans Bold" charset="1" panose="020B0806030504020204"/>
      <p:regular r:id="rId16"/>
    </p:embeddedFont>
    <p:embeddedFont>
      <p:font typeface="Open Sans Italics" charset="1" panose="020B0606030504020204"/>
      <p:regular r:id="rId17"/>
    </p:embeddedFont>
    <p:embeddedFont>
      <p:font typeface="Arimo Italics" charset="1" panose="020B0604020202090204"/>
      <p:regular r:id="rId18"/>
    </p:embeddedFont>
    <p:embeddedFont>
      <p:font typeface="Bricolage Grotesque Bold" charset="1" panose="020B0605040402000204"/>
      <p:regular r:id="rId19"/>
    </p:embeddedFont>
    <p:embeddedFont>
      <p:font typeface="Canva Sans Bold" charset="1" panose="020B0803030501040103"/>
      <p:regular r:id="rId20"/>
    </p:embeddedFont>
    <p:embeddedFont>
      <p:font typeface="Agrandir Wide Bold" charset="1" panose="00000805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415312" y="478275"/>
            <a:ext cx="3411600" cy="1559970"/>
          </a:xfrm>
          <a:custGeom>
            <a:avLst/>
            <a:gdLst/>
            <a:ahLst/>
            <a:cxnLst/>
            <a:rect r="r" b="b" t="t" l="l"/>
            <a:pathLst>
              <a:path h="1559970" w="3411600">
                <a:moveTo>
                  <a:pt x="0" y="0"/>
                </a:moveTo>
                <a:lnTo>
                  <a:pt x="3411600" y="0"/>
                </a:lnTo>
                <a:lnTo>
                  <a:pt x="3411600" y="1559970"/>
                </a:lnTo>
                <a:lnTo>
                  <a:pt x="0" y="155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63997" r="0" b="-54698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626382" y="9075907"/>
            <a:ext cx="4491445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303870"/>
                </a:solidFill>
                <a:latin typeface="Canva Student Font"/>
                <a:ea typeface="Canva Student Font"/>
                <a:cs typeface="Canva Student Font"/>
                <a:sym typeface="Canva Student Font"/>
              </a:rPr>
              <a:t>Your Pathway To Excellence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24397" y="6672111"/>
            <a:ext cx="9319171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Introductory Proposal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24397" y="8302142"/>
            <a:ext cx="785455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Define your project background before moving into detailed planning.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724397" y="8749237"/>
            <a:ext cx="7854553" cy="83391"/>
            <a:chOff x="0" y="0"/>
            <a:chExt cx="2068689" cy="2196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68689" cy="21963"/>
            </a:xfrm>
            <a:custGeom>
              <a:avLst/>
              <a:gdLst/>
              <a:ahLst/>
              <a:cxnLst/>
              <a:rect r="r" b="b" t="t" l="l"/>
              <a:pathLst>
                <a:path h="21963" w="2068689">
                  <a:moveTo>
                    <a:pt x="0" y="0"/>
                  </a:moveTo>
                  <a:lnTo>
                    <a:pt x="2068689" y="0"/>
                  </a:lnTo>
                  <a:lnTo>
                    <a:pt x="2068689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2068689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02509"/>
            <a:chOff x="0" y="0"/>
            <a:chExt cx="4816593" cy="3167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16710"/>
            </a:xfrm>
            <a:custGeom>
              <a:avLst/>
              <a:gdLst/>
              <a:ahLst/>
              <a:cxnLst/>
              <a:rect r="r" b="b" t="t" l="l"/>
              <a:pathLst>
                <a:path h="31671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837720" y="173809"/>
            <a:ext cx="2249731" cy="1028700"/>
          </a:xfrm>
          <a:custGeom>
            <a:avLst/>
            <a:gdLst/>
            <a:ahLst/>
            <a:cxnLst/>
            <a:rect r="r" b="b" t="t" l="l"/>
            <a:pathLst>
              <a:path h="1028700" w="2249731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997" r="0" b="-546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1123950" y="2179378"/>
          <a:ext cx="16040100" cy="6544577"/>
        </p:xfrm>
        <a:graphic>
          <a:graphicData uri="http://schemas.openxmlformats.org/drawingml/2006/table">
            <a:tbl>
              <a:tblPr/>
              <a:tblGrid>
                <a:gridCol w="6344952"/>
                <a:gridCol w="9695148"/>
              </a:tblGrid>
              <a:tr h="1061715">
                <a:tc gridSpan="2"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Project Title 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1C8"/>
                    </a:solidFill>
                  </a:tcPr>
                </a:tc>
                <a:tc hMerge="true"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Project Title 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1C8"/>
                    </a:solidFill>
                  </a:tcPr>
                </a:tc>
              </a:tr>
              <a:tr h="13696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Key stakeholders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i="true">
                          <a:solidFill>
                            <a:srgbClr val="000000"/>
                          </a:solidFill>
                          <a:latin typeface="Open Sans Italics"/>
                          <a:ea typeface="Open Sans Italics"/>
                          <a:cs typeface="Open Sans Italics"/>
                          <a:sym typeface="Open Sans Italics"/>
                        </a:rPr>
                        <a:t>Who are involved, affected, approving, or using the solution?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6961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Problem statement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i="true">
                          <a:solidFill>
                            <a:srgbClr val="000000"/>
                          </a:solidFill>
                          <a:latin typeface="Arimo Italics"/>
                          <a:ea typeface="Arimo Italics"/>
                          <a:cs typeface="Arimo Italics"/>
                          <a:sym typeface="Arimo Italics"/>
                        </a:rPr>
                        <a:t>What problem is currently affecting the department/process?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4902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Objectives</a:t>
                      </a:r>
                      <a:endParaRPr lang="en-US" sz="1100"/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i="true">
                          <a:solidFill>
                            <a:srgbClr val="000000"/>
                          </a:solidFill>
                          <a:latin typeface="Open Sans Italics"/>
                          <a:ea typeface="Open Sans Italics"/>
                          <a:cs typeface="Open Sans Italics"/>
                          <a:sym typeface="Open Sans Italics"/>
                        </a:rPr>
                        <a:t>What should the project achieve? List measurable objectives.</a:t>
                      </a:r>
                      <a:endParaRPr lang="en-US" sz="1100"/>
                    </a:p>
                    <a:p>
                      <a:pPr algn="l">
                        <a:lnSpc>
                          <a:spcPts val="2940"/>
                        </a:lnSpc>
                      </a:pP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9460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r>
                        <a:rPr lang="en-US" sz="3000" b="true">
                          <a:solidFill>
                            <a:srgbClr val="000000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Current process/procedure</a:t>
                      </a:r>
                      <a:endParaRPr lang="en-US" sz="1100"/>
                    </a:p>
                    <a:p>
                      <a:pPr algn="l">
                        <a:lnSpc>
                          <a:spcPts val="4200"/>
                        </a:lnSpc>
                      </a:pP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r>
                        <a:rPr lang="en-US" sz="2100" i="true">
                          <a:solidFill>
                            <a:srgbClr val="000000"/>
                          </a:solidFill>
                          <a:latin typeface="Open Sans Italics"/>
                          <a:ea typeface="Open Sans Italics"/>
                          <a:cs typeface="Open Sans Italics"/>
                          <a:sym typeface="Open Sans Italics"/>
                        </a:rPr>
                        <a:t>How is the process currently performed? Note pain points and manual steps.</a:t>
                      </a:r>
                      <a:endParaRPr lang="en-US" sz="1100"/>
                    </a:p>
                    <a:p>
                      <a:pPr algn="l">
                        <a:lnSpc>
                          <a:spcPts val="2940"/>
                        </a:lnSpc>
                      </a:pPr>
                    </a:p>
                  </a:txBody>
                  <a:tcPr marL="142875" marR="142875" marT="142875" marB="142875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 rot="0">
            <a:off x="1028700" y="165100"/>
            <a:ext cx="3744516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Instructions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1385599"/>
            <a:ext cx="1004375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template helps you describe the basic background of your AI project. 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8700" y="1909081"/>
            <a:ext cx="9939213" cy="83391"/>
            <a:chOff x="0" y="0"/>
            <a:chExt cx="2617735" cy="2196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17735" cy="21963"/>
            </a:xfrm>
            <a:custGeom>
              <a:avLst/>
              <a:gdLst/>
              <a:ahLst/>
              <a:cxnLst/>
              <a:rect r="r" b="b" t="t" l="l"/>
              <a:pathLst>
                <a:path h="21963" w="2617735">
                  <a:moveTo>
                    <a:pt x="0" y="0"/>
                  </a:moveTo>
                  <a:lnTo>
                    <a:pt x="2617735" y="0"/>
                  </a:lnTo>
                  <a:lnTo>
                    <a:pt x="2617735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17735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02509"/>
            <a:chOff x="0" y="0"/>
            <a:chExt cx="4816593" cy="3167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16710"/>
            </a:xfrm>
            <a:custGeom>
              <a:avLst/>
              <a:gdLst/>
              <a:ahLst/>
              <a:cxnLst/>
              <a:rect r="r" b="b" t="t" l="l"/>
              <a:pathLst>
                <a:path h="31671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837720" y="173809"/>
            <a:ext cx="2249731" cy="1028700"/>
          </a:xfrm>
          <a:custGeom>
            <a:avLst/>
            <a:gdLst/>
            <a:ahLst/>
            <a:cxnLst/>
            <a:rect r="r" b="b" t="t" l="l"/>
            <a:pathLst>
              <a:path h="1028700" w="2249731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997" r="0" b="-546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165100"/>
            <a:ext cx="5779290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Key Stakeholders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24630"/>
            <a:ext cx="5343287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Who is involved in or affected by this project?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909081"/>
            <a:ext cx="5343287" cy="83391"/>
            <a:chOff x="0" y="0"/>
            <a:chExt cx="1407286" cy="219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07286" cy="21963"/>
            </a:xfrm>
            <a:custGeom>
              <a:avLst/>
              <a:gdLst/>
              <a:ahLst/>
              <a:cxnLst/>
              <a:rect r="r" b="b" t="t" l="l"/>
              <a:pathLst>
                <a:path h="21963" w="1407286">
                  <a:moveTo>
                    <a:pt x="0" y="0"/>
                  </a:moveTo>
                  <a:lnTo>
                    <a:pt x="1407286" y="0"/>
                  </a:lnTo>
                  <a:lnTo>
                    <a:pt x="1407286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407286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1128362" y="2940325"/>
          <a:ext cx="16442048" cy="5392756"/>
        </p:xfrm>
        <a:graphic>
          <a:graphicData uri="http://schemas.openxmlformats.org/drawingml/2006/table">
            <a:tbl>
              <a:tblPr/>
              <a:tblGrid>
                <a:gridCol w="4215344"/>
                <a:gridCol w="4075568"/>
                <a:gridCol w="4075568"/>
                <a:gridCol w="4075568"/>
              </a:tblGrid>
              <a:tr h="87527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Stakeholder Name / Role</a:t>
                      </a: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Department</a:t>
                      </a: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Level of Involvement</a:t>
                      </a: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Key Interest or Concern</a:t>
                      </a: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12910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910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02968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29581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28575" marR="28575" marT="28575" marB="28575" anchor="ctr">
                    <a:lnL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02509"/>
            <a:chOff x="0" y="0"/>
            <a:chExt cx="4816593" cy="3167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16710"/>
            </a:xfrm>
            <a:custGeom>
              <a:avLst/>
              <a:gdLst/>
              <a:ahLst/>
              <a:cxnLst/>
              <a:rect r="r" b="b" t="t" l="l"/>
              <a:pathLst>
                <a:path h="31671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837720" y="173809"/>
            <a:ext cx="2249731" cy="1028700"/>
          </a:xfrm>
          <a:custGeom>
            <a:avLst/>
            <a:gdLst/>
            <a:ahLst/>
            <a:cxnLst/>
            <a:rect r="r" b="b" t="t" l="l"/>
            <a:pathLst>
              <a:path h="1028700" w="2249731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997" r="0" b="-546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165100"/>
            <a:ext cx="6057418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Problem Statement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24630"/>
            <a:ext cx="648844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learly describe the problem this project aims to solve.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909081"/>
            <a:ext cx="6488448" cy="83391"/>
            <a:chOff x="0" y="0"/>
            <a:chExt cx="1708892" cy="219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08892" cy="21963"/>
            </a:xfrm>
            <a:custGeom>
              <a:avLst/>
              <a:gdLst/>
              <a:ahLst/>
              <a:cxnLst/>
              <a:rect r="r" b="b" t="t" l="l"/>
              <a:pathLst>
                <a:path h="21963" w="1708892">
                  <a:moveTo>
                    <a:pt x="0" y="0"/>
                  </a:moveTo>
                  <a:lnTo>
                    <a:pt x="1708892" y="0"/>
                  </a:lnTo>
                  <a:lnTo>
                    <a:pt x="1708892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08892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1028700" y="2496759"/>
          <a:ext cx="16230600" cy="6571663"/>
        </p:xfrm>
        <a:graphic>
          <a:graphicData uri="http://schemas.openxmlformats.org/drawingml/2006/table">
            <a:tbl>
              <a:tblPr/>
              <a:tblGrid>
                <a:gridCol w="6633258"/>
                <a:gridCol w="9597342"/>
              </a:tblGrid>
              <a:tr h="131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What is the current problem or challenge?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Who is affected by this problem?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What is the impact if this problem is not solved?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What evidence or data supports the existence of this problem?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Problem Statement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02509"/>
            <a:chOff x="0" y="0"/>
            <a:chExt cx="4816593" cy="3167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16710"/>
            </a:xfrm>
            <a:custGeom>
              <a:avLst/>
              <a:gdLst/>
              <a:ahLst/>
              <a:cxnLst/>
              <a:rect r="r" b="b" t="t" l="l"/>
              <a:pathLst>
                <a:path h="31671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837720" y="173809"/>
            <a:ext cx="2249731" cy="1028700"/>
          </a:xfrm>
          <a:custGeom>
            <a:avLst/>
            <a:gdLst/>
            <a:ahLst/>
            <a:cxnLst/>
            <a:rect r="r" b="b" t="t" l="l"/>
            <a:pathLst>
              <a:path h="1028700" w="2249731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997" r="0" b="-546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165100"/>
            <a:ext cx="3417572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Objectives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24630"/>
            <a:ext cx="9714926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efine what this AI project should achieve. Use SMART objectives where possible.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909081"/>
            <a:ext cx="9636571" cy="83391"/>
            <a:chOff x="0" y="0"/>
            <a:chExt cx="2538027" cy="219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538027" cy="21963"/>
            </a:xfrm>
            <a:custGeom>
              <a:avLst/>
              <a:gdLst/>
              <a:ahLst/>
              <a:cxnLst/>
              <a:rect r="r" b="b" t="t" l="l"/>
              <a:pathLst>
                <a:path h="21963" w="2538027">
                  <a:moveTo>
                    <a:pt x="0" y="0"/>
                  </a:moveTo>
                  <a:lnTo>
                    <a:pt x="2538027" y="0"/>
                  </a:lnTo>
                  <a:lnTo>
                    <a:pt x="2538027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538027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1014663" y="9377609"/>
            <a:ext cx="7072789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i="true">
                <a:solidFill>
                  <a:srgbClr val="00000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SMART = Specific · Measurable · Achievable · Relevant · Time-bound</a:t>
            </a:r>
          </a:p>
        </p:txBody>
      </p:sp>
      <p:graphicFrame>
        <p:nvGraphicFramePr>
          <p:cNvPr name="Table 15" id="15"/>
          <p:cNvGraphicFramePr>
            <a:graphicFrameLocks noGrp="true"/>
          </p:cNvGraphicFramePr>
          <p:nvPr/>
        </p:nvGraphicFramePr>
        <p:xfrm>
          <a:off x="1028700" y="2496759"/>
          <a:ext cx="16230600" cy="6571663"/>
        </p:xfrm>
        <a:graphic>
          <a:graphicData uri="http://schemas.openxmlformats.org/drawingml/2006/table">
            <a:tbl>
              <a:tblPr/>
              <a:tblGrid>
                <a:gridCol w="4988592"/>
                <a:gridCol w="11242008"/>
              </a:tblGrid>
              <a:tr h="13143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 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 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 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 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1433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Objective 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02509"/>
            <a:chOff x="0" y="0"/>
            <a:chExt cx="4816593" cy="3167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16710"/>
            </a:xfrm>
            <a:custGeom>
              <a:avLst/>
              <a:gdLst/>
              <a:ahLst/>
              <a:cxnLst/>
              <a:rect r="r" b="b" t="t" l="l"/>
              <a:pathLst>
                <a:path h="31671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16710"/>
                  </a:lnTo>
                  <a:lnTo>
                    <a:pt x="0" y="316710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25000">
                  <a:srgbClr val="0C6E84">
                    <a:alpha val="100000"/>
                  </a:srgbClr>
                </a:gs>
                <a:gs pos="50000">
                  <a:srgbClr val="0C6E84">
                    <a:alpha val="100000"/>
                  </a:srgbClr>
                </a:gs>
                <a:gs pos="7500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354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837720" y="173809"/>
            <a:ext cx="2249731" cy="1028700"/>
          </a:xfrm>
          <a:custGeom>
            <a:avLst/>
            <a:gdLst/>
            <a:ahLst/>
            <a:cxnLst/>
            <a:rect r="r" b="b" t="t" l="l"/>
            <a:pathLst>
              <a:path h="1028700" w="2249731">
                <a:moveTo>
                  <a:pt x="0" y="0"/>
                </a:moveTo>
                <a:lnTo>
                  <a:pt x="2249732" y="0"/>
                </a:lnTo>
                <a:lnTo>
                  <a:pt x="2249732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3997" r="0" b="-54698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9700825"/>
            <a:ext cx="18288000" cy="128116"/>
            <a:chOff x="0" y="0"/>
            <a:chExt cx="4816593" cy="3374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33742"/>
            </a:xfrm>
            <a:custGeom>
              <a:avLst/>
              <a:gdLst/>
              <a:ahLst/>
              <a:cxnLst/>
              <a:rect r="r" b="b" t="t" l="l"/>
              <a:pathLst>
                <a:path h="3374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4816593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165100"/>
            <a:ext cx="8760116" cy="8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Current Process / Procedure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1524630"/>
            <a:ext cx="703317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escribe how the task is currently performed, step by step.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909081"/>
            <a:ext cx="6977333" cy="83391"/>
            <a:chOff x="0" y="0"/>
            <a:chExt cx="1837652" cy="219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37652" cy="21963"/>
            </a:xfrm>
            <a:custGeom>
              <a:avLst/>
              <a:gdLst/>
              <a:ahLst/>
              <a:cxnLst/>
              <a:rect r="r" b="b" t="t" l="l"/>
              <a:pathLst>
                <a:path h="21963" w="1837652">
                  <a:moveTo>
                    <a:pt x="0" y="0"/>
                  </a:moveTo>
                  <a:lnTo>
                    <a:pt x="1837652" y="0"/>
                  </a:lnTo>
                  <a:lnTo>
                    <a:pt x="1837652" y="21963"/>
                  </a:lnTo>
                  <a:lnTo>
                    <a:pt x="0" y="21963"/>
                  </a:lnTo>
                  <a:close/>
                </a:path>
              </a:pathLst>
            </a:custGeom>
            <a:gradFill rotWithShape="true">
              <a:gsLst>
                <a:gs pos="0">
                  <a:srgbClr val="0C6E84">
                    <a:alpha val="100000"/>
                  </a:srgbClr>
                </a:gs>
                <a:gs pos="50000">
                  <a:srgbClr val="FFFFFF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837652" cy="600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1014663" y="9377609"/>
            <a:ext cx="7072789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i="true">
                <a:solidFill>
                  <a:srgbClr val="00000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SMART = Specific · Measurable · Achievable · Relevant · Time-bound</a:t>
            </a:r>
          </a:p>
        </p:txBody>
      </p:sp>
      <p:graphicFrame>
        <p:nvGraphicFramePr>
          <p:cNvPr name="Table 15" id="15"/>
          <p:cNvGraphicFramePr>
            <a:graphicFrameLocks noGrp="true"/>
          </p:cNvGraphicFramePr>
          <p:nvPr/>
        </p:nvGraphicFramePr>
        <p:xfrm>
          <a:off x="1028700" y="2496759"/>
          <a:ext cx="16230600" cy="6323222"/>
        </p:xfrm>
        <a:graphic>
          <a:graphicData uri="http://schemas.openxmlformats.org/drawingml/2006/table">
            <a:tbl>
              <a:tblPr/>
              <a:tblGrid>
                <a:gridCol w="4988592"/>
                <a:gridCol w="11242008"/>
              </a:tblGrid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10538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22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FFFFFF"/>
                          </a:solidFill>
                          <a:latin typeface="Open Sans Bold"/>
                          <a:ea typeface="Open Sans Bold"/>
                          <a:cs typeface="Open Sans Bold"/>
                          <a:sym typeface="Open Sans Bold"/>
                        </a:rPr>
                        <a:t>Step 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82">
                      <a:solidFill>
                        <a:srgbClr val="CB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415312" y="478275"/>
            <a:ext cx="3411600" cy="1559970"/>
          </a:xfrm>
          <a:custGeom>
            <a:avLst/>
            <a:gdLst/>
            <a:ahLst/>
            <a:cxnLst/>
            <a:rect r="r" b="b" t="t" l="l"/>
            <a:pathLst>
              <a:path h="1559970" w="3411600">
                <a:moveTo>
                  <a:pt x="0" y="0"/>
                </a:moveTo>
                <a:lnTo>
                  <a:pt x="3411600" y="0"/>
                </a:lnTo>
                <a:lnTo>
                  <a:pt x="3411600" y="1559970"/>
                </a:lnTo>
                <a:lnTo>
                  <a:pt x="0" y="155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63997" r="0" b="-5469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687851" y="2921793"/>
            <a:ext cx="6665443" cy="383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3654"/>
              </a:lnSpc>
            </a:pPr>
            <a:r>
              <a:rPr lang="en-US" b="true" sz="11977">
                <a:solidFill>
                  <a:srgbClr val="1C2C4D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THANK</a:t>
            </a:r>
          </a:p>
          <a:p>
            <a:pPr algn="just">
              <a:lnSpc>
                <a:spcPts val="13654"/>
              </a:lnSpc>
            </a:pPr>
            <a:r>
              <a:rPr lang="en-US" b="true" sz="11977">
                <a:solidFill>
                  <a:srgbClr val="1C2C4D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YOU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38702" y="9700825"/>
            <a:ext cx="9349298" cy="128116"/>
            <a:chOff x="0" y="0"/>
            <a:chExt cx="2462367" cy="3374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62367" cy="33742"/>
            </a:xfrm>
            <a:custGeom>
              <a:avLst/>
              <a:gdLst/>
              <a:ahLst/>
              <a:cxnLst/>
              <a:rect r="r" b="b" t="t" l="l"/>
              <a:pathLst>
                <a:path h="33742" w="2462367">
                  <a:moveTo>
                    <a:pt x="0" y="0"/>
                  </a:moveTo>
                  <a:lnTo>
                    <a:pt x="2462367" y="0"/>
                  </a:lnTo>
                  <a:lnTo>
                    <a:pt x="2462367" y="33742"/>
                  </a:lnTo>
                  <a:lnTo>
                    <a:pt x="0" y="33742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33333">
                  <a:srgbClr val="FFFFFF">
                    <a:alpha val="100000"/>
                  </a:srgbClr>
                </a:gs>
                <a:gs pos="66667">
                  <a:srgbClr val="0C6E84">
                    <a:alpha val="100000"/>
                  </a:srgbClr>
                </a:gs>
                <a:gs pos="100000">
                  <a:srgbClr val="0C6E84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462367" cy="71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3626382" y="9075907"/>
            <a:ext cx="4491445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303870"/>
                </a:solidFill>
                <a:latin typeface="Canva Student Font"/>
                <a:ea typeface="Canva Student Font"/>
                <a:cs typeface="Canva Student Font"/>
                <a:sym typeface="Canva Student Font"/>
              </a:rPr>
              <a:t>Your Pathway To Excellence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DAHIUUxZROQ</dc:identifier>
  <dcterms:modified xsi:type="dcterms:W3CDTF">2011-08-01T06:04:30Z</dcterms:modified>
  <cp:revision>1</cp:revision>
  <dc:title>Introductory Proposal  TEMPLATE</dc:title>
</cp:coreProperties>
</file>