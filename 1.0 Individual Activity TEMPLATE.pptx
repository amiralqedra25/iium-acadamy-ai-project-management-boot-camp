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grandir Wide Bold" panose="020B0604020202020204" charset="0"/>
      <p:regular r:id="rId10"/>
    </p:embeddedFont>
    <p:embeddedFont>
      <p:font typeface="Bricolage Grotesque" panose="020B0604020202020204" charset="0"/>
      <p:regular r:id="rId11"/>
    </p:embeddedFont>
    <p:embeddedFont>
      <p:font typeface="Bricolage Grotesque Bold" panose="020B0604020202020204" charset="0"/>
      <p:regular r:id="rId12"/>
    </p:embeddedFont>
    <p:embeddedFont>
      <p:font typeface="Canva Student Font" panose="020B0604020202020204" charset="0"/>
      <p:regular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Open Sans Bold" panose="020B0806030504020204" pitchFamily="34" charset="0"/>
      <p:regular r:id="rId18"/>
      <p:bold r:id="rId19"/>
    </p:embeddedFont>
    <p:embeddedFont>
      <p:font typeface="Open Sans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397" y="5596188"/>
            <a:ext cx="9930753" cy="243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Individual Activity:</a:t>
            </a:r>
          </a:p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Project Identification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397" y="8314000"/>
            <a:ext cx="641882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Identify a complex work task suitable for AI improvement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4397" y="8749237"/>
            <a:ext cx="6439265" cy="83391"/>
            <a:chOff x="0" y="0"/>
            <a:chExt cx="1695938" cy="21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5938" cy="21963"/>
            </a:xfrm>
            <a:custGeom>
              <a:avLst/>
              <a:gdLst/>
              <a:ahLst/>
              <a:cxnLst/>
              <a:rect l="l" t="t" r="r" b="b"/>
              <a:pathLst>
                <a:path w="1695938" h="21963">
                  <a:moveTo>
                    <a:pt x="0" y="0"/>
                  </a:moveTo>
                  <a:lnTo>
                    <a:pt x="1695938" y="0"/>
                  </a:lnTo>
                  <a:lnTo>
                    <a:pt x="1695938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695938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239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74" y="165100"/>
            <a:ext cx="6489629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Activity Instructions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385599"/>
            <a:ext cx="2944759" cy="38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you need to do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2895063" cy="83391"/>
            <a:chOff x="0" y="0"/>
            <a:chExt cx="762486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486" cy="21963"/>
            </a:xfrm>
            <a:custGeom>
              <a:avLst/>
              <a:gdLst/>
              <a:ahLst/>
              <a:cxnLst/>
              <a:rect l="l" t="t" r="r" b="b"/>
              <a:pathLst>
                <a:path w="762486" h="21963">
                  <a:moveTo>
                    <a:pt x="0" y="0"/>
                  </a:moveTo>
                  <a:lnTo>
                    <a:pt x="762486" y="0"/>
                  </a:lnTo>
                  <a:lnTo>
                    <a:pt x="762486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486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2333625"/>
          <a:ext cx="16133858" cy="5619750"/>
        </p:xfrm>
        <a:graphic>
          <a:graphicData uri="http://schemas.openxmlformats.org/drawingml/2006/table">
            <a:tbl>
              <a:tblPr/>
              <a:tblGrid>
                <a:gridCol w="16133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9750">
                <a:tc>
                  <a:txBody>
                    <a:bodyPr/>
                    <a:lstStyle/>
                    <a:p>
                      <a:pPr marL="626114" lvl="1" indent="-313057" algn="l">
                        <a:lnSpc>
                          <a:spcPts val="6380"/>
                        </a:lnSpc>
                        <a:buAutoNum type="arabicPeriod"/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Select ONE complex task from your current work that involves repeated decisions, data analysis, reporting, or coordination.</a:t>
                      </a:r>
                      <a:endParaRPr lang="en-US" sz="1100"/>
                    </a:p>
                    <a:p>
                      <a:pPr marL="626114" lvl="1" indent="-313057" algn="l">
                        <a:lnSpc>
                          <a:spcPts val="6380"/>
                        </a:lnSpc>
                        <a:buAutoNum type="arabicPeriod"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Rate the current performance of that task on a scale of 1 (very poor) to 10 (excellent).</a:t>
                      </a:r>
                    </a:p>
                    <a:p>
                      <a:pPr marL="626114" lvl="1" indent="-313057" algn="l">
                        <a:lnSpc>
                          <a:spcPts val="6380"/>
                        </a:lnSpc>
                        <a:buAutoNum type="arabicPeriod"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Define your target performance score and the timeline you expect to reach it.</a:t>
                      </a:r>
                    </a:p>
                    <a:p>
                      <a:pPr marL="626114" lvl="1" indent="-313057" algn="l">
                        <a:lnSpc>
                          <a:spcPts val="6380"/>
                        </a:lnSpc>
                        <a:buAutoNum type="arabicPeriod"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Identify what actions, resources, data, tools, or support you will need to improve the task.</a:t>
                      </a:r>
                    </a:p>
                    <a:p>
                      <a:pPr marL="626114" lvl="1" indent="-313057" algn="l">
                        <a:lnSpc>
                          <a:spcPts val="6380"/>
                        </a:lnSpc>
                        <a:buAutoNum type="arabicPeriod"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 the key deliverables you expect from the proposed AI or data analytics solution.</a:t>
                      </a:r>
                    </a:p>
                    <a:p>
                      <a:pPr marL="626114" lvl="1" indent="-313057" algn="l">
                        <a:lnSpc>
                          <a:spcPts val="6380"/>
                        </a:lnSpc>
                        <a:buAutoNum type="arabicPeriod"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 the questionnaire prompt to guide an AI tool in recommending possible solutions.</a:t>
                      </a:r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922486" y="2392521"/>
          <a:ext cx="16040100" cy="5988486"/>
        </p:xfrm>
        <a:graphic>
          <a:graphicData uri="http://schemas.openxmlformats.org/drawingml/2006/table">
            <a:tbl>
              <a:tblPr/>
              <a:tblGrid>
                <a:gridCol w="1604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7744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Team Name / Department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Selected Task / Process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Describe the task you have selected: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Why is this task complex?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makes it challenging, time-consuming, or error-prone?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tool or method used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is this task currently done?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028700" y="165100"/>
            <a:ext cx="9151620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Individual Activity Worksheet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385599"/>
            <a:ext cx="6944726" cy="38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Fill in the boxes below based on your current work.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1909081"/>
            <a:ext cx="6944726" cy="83391"/>
            <a:chOff x="0" y="0"/>
            <a:chExt cx="1829064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9064" cy="21963"/>
            </a:xfrm>
            <a:custGeom>
              <a:avLst/>
              <a:gdLst/>
              <a:ahLst/>
              <a:cxnLst/>
              <a:rect l="l" t="t" r="r" b="b"/>
              <a:pathLst>
                <a:path w="1829064" h="21963">
                  <a:moveTo>
                    <a:pt x="0" y="0"/>
                  </a:moveTo>
                  <a:lnTo>
                    <a:pt x="1829064" y="0"/>
                  </a:lnTo>
                  <a:lnTo>
                    <a:pt x="1829064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29064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922486" y="3340344"/>
          <a:ext cx="16040100" cy="5909145"/>
        </p:xfrm>
        <a:graphic>
          <a:graphicData uri="http://schemas.openxmlformats.org/drawingml/2006/table">
            <a:tbl>
              <a:tblPr/>
              <a:tblGrid>
                <a:gridCol w="1604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Score (1–10)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Score (1–10)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Achievement Timeline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e.g. 3 months, 6 months, 1 year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does success look like?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129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Describe the ideal outcome in simple terms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028700" y="165100"/>
            <a:ext cx="11544300" cy="863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Current &amp; Target Improvement Scale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385599"/>
            <a:ext cx="6057900" cy="389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Rate the performance of your selected task.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1909081"/>
            <a:ext cx="5943789" cy="83391"/>
            <a:chOff x="0" y="0"/>
            <a:chExt cx="1565442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65442" cy="21963"/>
            </a:xfrm>
            <a:custGeom>
              <a:avLst/>
              <a:gdLst/>
              <a:ahLst/>
              <a:cxnLst/>
              <a:rect l="l" t="t" r="r" b="b"/>
              <a:pathLst>
                <a:path w="1565442" h="21963">
                  <a:moveTo>
                    <a:pt x="0" y="0"/>
                  </a:moveTo>
                  <a:lnTo>
                    <a:pt x="1565442" y="0"/>
                  </a:lnTo>
                  <a:lnTo>
                    <a:pt x="156544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65442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70220" y="2409058"/>
            <a:ext cx="748445" cy="702686"/>
            <a:chOff x="0" y="0"/>
            <a:chExt cx="197121" cy="1850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FFE8E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CC3333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89009" y="2409058"/>
            <a:ext cx="748445" cy="702686"/>
            <a:chOff x="0" y="0"/>
            <a:chExt cx="197121" cy="18506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FFE8E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CC3333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08928" y="2409058"/>
            <a:ext cx="748445" cy="702686"/>
            <a:chOff x="0" y="0"/>
            <a:chExt cx="197121" cy="1850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FFE8E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CC3333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928848" y="2409058"/>
            <a:ext cx="748445" cy="702686"/>
            <a:chOff x="0" y="0"/>
            <a:chExt cx="197121" cy="18506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FFF5E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CC8800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047636" y="2409058"/>
            <a:ext cx="748445" cy="702686"/>
            <a:chOff x="0" y="0"/>
            <a:chExt cx="197121" cy="1850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FFF5E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CC8800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67556" y="2409058"/>
            <a:ext cx="748445" cy="702686"/>
            <a:chOff x="0" y="0"/>
            <a:chExt cx="197121" cy="18506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FFF5E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CC8800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287476" y="2409058"/>
            <a:ext cx="748445" cy="702686"/>
            <a:chOff x="0" y="0"/>
            <a:chExt cx="197121" cy="18506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E8F5E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D7377"/>
                  </a:solidFill>
                  <a:latin typeface="Open Sans"/>
                  <a:ea typeface="Open Sans"/>
                  <a:cs typeface="Open Sans"/>
                  <a:sym typeface="Open Sans"/>
                </a:rPr>
                <a:t>7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406264" y="2409058"/>
            <a:ext cx="748445" cy="702686"/>
            <a:chOff x="0" y="0"/>
            <a:chExt cx="197121" cy="18506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E8F5E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D7377"/>
                  </a:solidFill>
                  <a:latin typeface="Open Sans"/>
                  <a:ea typeface="Open Sans"/>
                  <a:cs typeface="Open Sans"/>
                  <a:sym typeface="Open Sans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526184" y="2409058"/>
            <a:ext cx="748445" cy="702686"/>
            <a:chOff x="0" y="0"/>
            <a:chExt cx="197121" cy="18506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E8F5E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D7377"/>
                  </a:solidFill>
                  <a:latin typeface="Open Sans"/>
                  <a:ea typeface="Open Sans"/>
                  <a:cs typeface="Open Sans"/>
                  <a:sym typeface="Open Sans"/>
                </a:rPr>
                <a:t>9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646104" y="2409058"/>
            <a:ext cx="748445" cy="702686"/>
            <a:chOff x="0" y="0"/>
            <a:chExt cx="197121" cy="18506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E8F5E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D7377"/>
                  </a:solidFill>
                  <a:latin typeface="Open Sans"/>
                  <a:ea typeface="Open Sans"/>
                  <a:cs typeface="Open Sans"/>
                  <a:sym typeface="Open Sans"/>
                </a:rPr>
                <a:t>10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28700" y="2370958"/>
            <a:ext cx="4170045" cy="339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CURRENT PERFORMANCE SCORE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8700" y="2722301"/>
            <a:ext cx="403446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1 = Very Poor                  10 = Excellent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83439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Pain Points &amp; Target Users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8169443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List the steps needed to improve this task using AI or data analytics.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8040942" cy="83391"/>
            <a:chOff x="0" y="0"/>
            <a:chExt cx="2117779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17779" cy="21963"/>
            </a:xfrm>
            <a:custGeom>
              <a:avLst/>
              <a:gdLst/>
              <a:ahLst/>
              <a:cxnLst/>
              <a:rect l="l" t="t" r="r" b="b"/>
              <a:pathLst>
                <a:path w="2117779" h="21963">
                  <a:moveTo>
                    <a:pt x="0" y="0"/>
                  </a:moveTo>
                  <a:lnTo>
                    <a:pt x="2117779" y="0"/>
                  </a:lnTo>
                  <a:lnTo>
                    <a:pt x="211777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17779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922976" y="2697321"/>
          <a:ext cx="16442049" cy="6803100"/>
        </p:xfrm>
        <a:graphic>
          <a:graphicData uri="http://schemas.openxmlformats.org/drawingml/2006/table">
            <a:tbl>
              <a:tblPr/>
              <a:tblGrid>
                <a:gridCol w="524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8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35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71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539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#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Action / Step Required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Required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Support Needed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Date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Resources or Tools Needed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007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3007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007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3007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3007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3007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6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5367512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Deliverables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218" y="1524630"/>
            <a:ext cx="7735843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should the AI or data analytics solution produce or deliver?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7602077" cy="83391"/>
            <a:chOff x="0" y="0"/>
            <a:chExt cx="2002193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02193" cy="21963"/>
            </a:xfrm>
            <a:custGeom>
              <a:avLst/>
              <a:gdLst/>
              <a:ahLst/>
              <a:cxnLst/>
              <a:rect l="l" t="t" r="r" b="b"/>
              <a:pathLst>
                <a:path w="2002193" h="21963">
                  <a:moveTo>
                    <a:pt x="0" y="0"/>
                  </a:moveTo>
                  <a:lnTo>
                    <a:pt x="2002193" y="0"/>
                  </a:lnTo>
                  <a:lnTo>
                    <a:pt x="2002193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02193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01435" y="2354421"/>
          <a:ext cx="16285131" cy="6086566"/>
        </p:xfrm>
        <a:graphic>
          <a:graphicData uri="http://schemas.openxmlformats.org/drawingml/2006/table">
            <a:tbl>
              <a:tblPr/>
              <a:tblGrid>
                <a:gridCol w="820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77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Reports &amp; Dashboards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Predictions &amp; Forecasts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8327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e.g. automated performance reports, live dashboards, KPI summaries</a:t>
                      </a:r>
                      <a:endParaRPr lang="en-US" sz="1100"/>
                    </a:p>
                    <a:p>
                      <a:pPr algn="ctr">
                        <a:lnSpc>
                          <a:spcPts val="2660"/>
                        </a:lnSpc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e.g. demand forecast, risk prediction, trend analysis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7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Alerts &amp; Notifications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Process Automation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68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e.g. anomaly detection alerts, threshold warnings, automated reminders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e.g. automated data entry, document classification, approval routing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028700" y="8616809"/>
            <a:ext cx="4013353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Additional Deliverables / Notes: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7034897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Questionnaire Prompt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218" y="1524630"/>
            <a:ext cx="9965065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this prompt with an AI tool (e.g. ChatGPT, Copilot) to explore possible solutions.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62990" y="1905271"/>
            <a:ext cx="9834737" cy="83391"/>
            <a:chOff x="0" y="0"/>
            <a:chExt cx="2590219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90219" cy="21963"/>
            </a:xfrm>
            <a:custGeom>
              <a:avLst/>
              <a:gdLst/>
              <a:ahLst/>
              <a:cxnLst/>
              <a:rect l="l" t="t" r="r" b="b"/>
              <a:pathLst>
                <a:path w="2590219" h="21963">
                  <a:moveTo>
                    <a:pt x="0" y="0"/>
                  </a:moveTo>
                  <a:lnTo>
                    <a:pt x="2590219" y="0"/>
                  </a:lnTo>
                  <a:lnTo>
                    <a:pt x="259021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590219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2354421"/>
          <a:ext cx="13240340" cy="5048250"/>
        </p:xfrm>
        <a:graphic>
          <a:graphicData uri="http://schemas.openxmlformats.org/drawingml/2006/table">
            <a:tbl>
              <a:tblPr/>
              <a:tblGrid>
                <a:gridCol w="1324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8250">
                <a:tc>
                  <a:txBody>
                    <a:bodyPr/>
                    <a:lstStyle/>
                    <a:p>
                      <a:pPr algn="just">
                        <a:lnSpc>
                          <a:spcPts val="2999"/>
                        </a:lnSpc>
                        <a:defRPr/>
                      </a:pPr>
                      <a:r>
                        <a:rPr lang="en-US" sz="24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I work in [your department] at [your organisation].</a:t>
                      </a:r>
                      <a:endParaRPr lang="en-US" sz="1100"/>
                    </a:p>
                    <a:p>
                      <a:pPr algn="just">
                        <a:lnSpc>
                          <a:spcPts val="2999"/>
                        </a:lnSpc>
                      </a:pPr>
                      <a:endParaRPr lang="en-US" sz="1100"/>
                    </a:p>
                    <a:p>
                      <a:pPr algn="just">
                        <a:lnSpc>
                          <a:spcPts val="2999"/>
                        </a:lnSpc>
                      </a:pPr>
                      <a:r>
                        <a:rPr lang="en-US" sz="24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My current task is: [describe the task].</a:t>
                      </a:r>
                    </a:p>
                    <a:p>
                      <a:pPr algn="just">
                        <a:lnSpc>
                          <a:spcPts val="2999"/>
                        </a:lnSpc>
                      </a:pPr>
                      <a:endParaRPr lang="en-US" sz="2499" i="1">
                        <a:solidFill>
                          <a:srgbClr val="000000"/>
                        </a:solidFill>
                        <a:latin typeface="Open Sans Italics"/>
                        <a:ea typeface="Open Sans Italics"/>
                        <a:cs typeface="Open Sans Italics"/>
                        <a:sym typeface="Open Sans Italics"/>
                      </a:endParaRPr>
                    </a:p>
                    <a:p>
                      <a:pPr algn="just">
                        <a:lnSpc>
                          <a:spcPts val="2999"/>
                        </a:lnSpc>
                      </a:pPr>
                      <a:r>
                        <a:rPr lang="en-US" sz="24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The main challenge or problem with this task is: [describe the problem].</a:t>
                      </a:r>
                    </a:p>
                    <a:p>
                      <a:pPr algn="just">
                        <a:lnSpc>
                          <a:spcPts val="2999"/>
                        </a:lnSpc>
                      </a:pPr>
                      <a:endParaRPr lang="en-US" sz="2499" i="1">
                        <a:solidFill>
                          <a:srgbClr val="000000"/>
                        </a:solidFill>
                        <a:latin typeface="Open Sans Italics"/>
                        <a:ea typeface="Open Sans Italics"/>
                        <a:cs typeface="Open Sans Italics"/>
                        <a:sym typeface="Open Sans Italics"/>
                      </a:endParaRPr>
                    </a:p>
                    <a:p>
                      <a:pPr algn="just">
                        <a:lnSpc>
                          <a:spcPts val="2999"/>
                        </a:lnSpc>
                      </a:pPr>
                      <a:r>
                        <a:rPr lang="en-US" sz="24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Currently, the task is done using: [current tools or methods].</a:t>
                      </a:r>
                    </a:p>
                    <a:p>
                      <a:pPr algn="just">
                        <a:lnSpc>
                          <a:spcPts val="2999"/>
                        </a:lnSpc>
                      </a:pPr>
                      <a:endParaRPr lang="en-US" sz="2499" i="1">
                        <a:solidFill>
                          <a:srgbClr val="000000"/>
                        </a:solidFill>
                        <a:latin typeface="Open Sans Italics"/>
                        <a:ea typeface="Open Sans Italics"/>
                        <a:cs typeface="Open Sans Italics"/>
                        <a:sym typeface="Open Sans Italics"/>
                      </a:endParaRPr>
                    </a:p>
                    <a:p>
                      <a:pPr algn="just">
                        <a:lnSpc>
                          <a:spcPts val="2999"/>
                        </a:lnSpc>
                      </a:pPr>
                      <a:r>
                        <a:rPr lang="en-US" sz="24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The data available for this task includes: [list available data].</a:t>
                      </a:r>
                    </a:p>
                    <a:p>
                      <a:pPr algn="just">
                        <a:lnSpc>
                          <a:spcPts val="2999"/>
                        </a:lnSpc>
                      </a:pPr>
                      <a:endParaRPr lang="en-US" sz="2499" i="1">
                        <a:solidFill>
                          <a:srgbClr val="000000"/>
                        </a:solidFill>
                        <a:latin typeface="Open Sans Italics"/>
                        <a:ea typeface="Open Sans Italics"/>
                        <a:cs typeface="Open Sans Italics"/>
                        <a:sym typeface="Open Sans Italics"/>
                      </a:endParaRPr>
                    </a:p>
                    <a:p>
                      <a:pPr algn="just">
                        <a:lnSpc>
                          <a:spcPts val="2999"/>
                        </a:lnSpc>
                      </a:pPr>
                      <a:r>
                        <a:rPr lang="en-US" sz="24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I would like to improve this task by: [describe improvement goal].</a:t>
                      </a:r>
                    </a:p>
                    <a:p>
                      <a:pPr algn="just">
                        <a:lnSpc>
                          <a:spcPts val="2999"/>
                        </a:lnSpc>
                      </a:pPr>
                      <a:endParaRPr lang="en-US" sz="2499" i="1">
                        <a:solidFill>
                          <a:srgbClr val="000000"/>
                        </a:solidFill>
                        <a:latin typeface="Open Sans Italics"/>
                        <a:ea typeface="Open Sans Italics"/>
                        <a:cs typeface="Open Sans Italics"/>
                        <a:sym typeface="Open Sans Italics"/>
                      </a:endParaRPr>
                    </a:p>
                    <a:p>
                      <a:pPr algn="just">
                        <a:lnSpc>
                          <a:spcPts val="2999"/>
                        </a:lnSpc>
                      </a:pPr>
                      <a:r>
                        <a:rPr lang="en-US" sz="24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Please suggest AI or data analytics solutions that could help. and explain how each one works.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028700" y="7547107"/>
            <a:ext cx="3195069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Tool Response / Notes:</a:t>
            </a: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974218" y="8067834"/>
          <a:ext cx="13240340" cy="1274267"/>
        </p:xfrm>
        <a:graphic>
          <a:graphicData uri="http://schemas.openxmlformats.org/drawingml/2006/table">
            <a:tbl>
              <a:tblPr/>
              <a:tblGrid>
                <a:gridCol w="1324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4267">
                <a:tc>
                  <a:txBody>
                    <a:bodyPr/>
                    <a:lstStyle/>
                    <a:p>
                      <a:pPr algn="just">
                        <a:lnSpc>
                          <a:spcPts val="299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687851" y="2921793"/>
            <a:ext cx="6665443" cy="38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38702" y="9700825"/>
            <a:ext cx="9349298" cy="128116"/>
            <a:chOff x="0" y="0"/>
            <a:chExt cx="2462367" cy="33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367" cy="33742"/>
            </a:xfrm>
            <a:custGeom>
              <a:avLst/>
              <a:gdLst/>
              <a:ahLst/>
              <a:cxnLst/>
              <a:rect l="l" t="t" r="r" b="b"/>
              <a:pathLst>
                <a:path w="2462367" h="33742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Microsoft Office PowerPoint</Application>
  <PresentationFormat>Custom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Open Sans</vt:lpstr>
      <vt:lpstr>Open Sans Bold</vt:lpstr>
      <vt:lpstr>Arial</vt:lpstr>
      <vt:lpstr>Agrandir Wide Bold</vt:lpstr>
      <vt:lpstr>Bricolage Grotesque</vt:lpstr>
      <vt:lpstr>Bricolage Grotesque Bold</vt:lpstr>
      <vt:lpstr>Canva Student Font</vt:lpstr>
      <vt:lpstr>Calibri</vt:lpstr>
      <vt:lpstr>Open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Activity TEMPLATE</dc:title>
  <cp:lastModifiedBy>ALQEDRA AMIR IZZEDDIN AYESH</cp:lastModifiedBy>
  <cp:revision>2</cp:revision>
  <dcterms:created xsi:type="dcterms:W3CDTF">2006-08-16T00:00:00Z</dcterms:created>
  <dcterms:modified xsi:type="dcterms:W3CDTF">2026-05-03T04:20:48Z</dcterms:modified>
  <dc:identifier>DAHIk3FYdIw</dc:identifier>
</cp:coreProperties>
</file>