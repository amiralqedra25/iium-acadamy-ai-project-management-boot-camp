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Agrandir Wide Bold" panose="020B0604020202020204" charset="0"/>
      <p:regular r:id="rId12"/>
    </p:embeddedFont>
    <p:embeddedFont>
      <p:font typeface="Arimo Italics" panose="020B0604020202020204" charset="0"/>
      <p:regular r:id="rId13"/>
    </p:embeddedFont>
    <p:embeddedFont>
      <p:font typeface="Bricolage Grotesque" panose="020B0604020202020204" charset="0"/>
      <p:regular r:id="rId14"/>
    </p:embeddedFont>
    <p:embeddedFont>
      <p:font typeface="Bricolage Grotesque Bold" panose="020B0604020202020204" charset="0"/>
      <p:regular r:id="rId15"/>
    </p:embeddedFont>
    <p:embeddedFont>
      <p:font typeface="Canva Student Font" panose="020B0604020202020204" charset="0"/>
      <p:regular r:id="rId16"/>
    </p:embeddedFont>
    <p:embeddedFont>
      <p:font typeface="Open Sans" panose="020B0606030504020204" pitchFamily="34" charset="0"/>
      <p:regular r:id="rId17"/>
    </p:embeddedFont>
    <p:embeddedFont>
      <p:font typeface="Open Sans Bold" panose="020B0806030504020204" charset="0"/>
      <p:regular r:id="rId18"/>
    </p:embeddedFont>
    <p:embeddedFont>
      <p:font typeface="Open Sans Italics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02-May-26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02-May-26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02-May-26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02-May-26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0" y="9700825"/>
            <a:ext cx="18288000" cy="128116"/>
            <a:chOff x="0" y="0"/>
            <a:chExt cx="4816593" cy="3374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33742"/>
            </a:xfrm>
            <a:custGeom>
              <a:avLst/>
              <a:gdLst/>
              <a:ahLst/>
              <a:cxnLst/>
              <a:rect l="l" t="t" r="r" b="b"/>
              <a:pathLst>
                <a:path w="4816592" h="33742">
                  <a:moveTo>
                    <a:pt x="0" y="0"/>
                  </a:moveTo>
                  <a:lnTo>
                    <a:pt x="4816592" y="0"/>
                  </a:lnTo>
                  <a:lnTo>
                    <a:pt x="4816592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4415312" y="478275"/>
            <a:ext cx="3411600" cy="1559970"/>
          </a:xfrm>
          <a:custGeom>
            <a:avLst/>
            <a:gdLst/>
            <a:ahLst/>
            <a:cxnLst/>
            <a:rect l="l" t="t" r="r" b="b"/>
            <a:pathLst>
              <a:path w="3411600" h="1559970">
                <a:moveTo>
                  <a:pt x="0" y="0"/>
                </a:moveTo>
                <a:lnTo>
                  <a:pt x="3411600" y="0"/>
                </a:lnTo>
                <a:lnTo>
                  <a:pt x="3411600" y="1559970"/>
                </a:lnTo>
                <a:lnTo>
                  <a:pt x="0" y="15599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TextBox 7"/>
          <p:cNvSpPr txBox="1"/>
          <p:nvPr/>
        </p:nvSpPr>
        <p:spPr>
          <a:xfrm>
            <a:off x="13626382" y="9075907"/>
            <a:ext cx="4491445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303870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Your Pathway To Excellence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24397" y="6687239"/>
            <a:ext cx="9307295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Expectation Summary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24397" y="8262045"/>
            <a:ext cx="9960525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Summarise the expected output, scope, ROI, and improvement impact of your AI project.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724397" y="8749237"/>
            <a:ext cx="9960525" cy="83391"/>
            <a:chOff x="0" y="0"/>
            <a:chExt cx="2623348" cy="2196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623348" cy="21963"/>
            </a:xfrm>
            <a:custGeom>
              <a:avLst/>
              <a:gdLst/>
              <a:ahLst/>
              <a:cxnLst/>
              <a:rect l="l" t="t" r="r" b="b"/>
              <a:pathLst>
                <a:path w="2623348" h="21963">
                  <a:moveTo>
                    <a:pt x="0" y="0"/>
                  </a:moveTo>
                  <a:lnTo>
                    <a:pt x="2623348" y="0"/>
                  </a:lnTo>
                  <a:lnTo>
                    <a:pt x="2623348" y="21963"/>
                  </a:lnTo>
                  <a:lnTo>
                    <a:pt x="0" y="21963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0C6E8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623348" cy="60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18288000" cy="1202509"/>
            <a:chOff x="0" y="0"/>
            <a:chExt cx="4816593" cy="31671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316710"/>
            </a:xfrm>
            <a:custGeom>
              <a:avLst/>
              <a:gdLst/>
              <a:ahLst/>
              <a:cxnLst/>
              <a:rect l="l" t="t" r="r" b="b"/>
              <a:pathLst>
                <a:path w="4816592" h="316710">
                  <a:moveTo>
                    <a:pt x="0" y="0"/>
                  </a:moveTo>
                  <a:lnTo>
                    <a:pt x="4816592" y="0"/>
                  </a:lnTo>
                  <a:lnTo>
                    <a:pt x="4816592" y="316710"/>
                  </a:lnTo>
                  <a:lnTo>
                    <a:pt x="0" y="316710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25000">
                  <a:srgbClr val="0C6E84">
                    <a:alpha val="100000"/>
                  </a:srgbClr>
                </a:gs>
                <a:gs pos="50000">
                  <a:srgbClr val="0C6E84">
                    <a:alpha val="100000"/>
                  </a:srgbClr>
                </a:gs>
                <a:gs pos="75000">
                  <a:srgbClr val="FFFF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354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5837720" y="173809"/>
            <a:ext cx="2249731" cy="1028700"/>
          </a:xfrm>
          <a:custGeom>
            <a:avLst/>
            <a:gdLst/>
            <a:ahLst/>
            <a:cxnLst/>
            <a:rect l="l" t="t" r="r" b="b"/>
            <a:pathLst>
              <a:path w="2249731" h="1028700">
                <a:moveTo>
                  <a:pt x="0" y="0"/>
                </a:moveTo>
                <a:lnTo>
                  <a:pt x="2249732" y="0"/>
                </a:lnTo>
                <a:lnTo>
                  <a:pt x="2249732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7" name="Group 7"/>
          <p:cNvGrpSpPr/>
          <p:nvPr/>
        </p:nvGrpSpPr>
        <p:grpSpPr>
          <a:xfrm>
            <a:off x="0" y="9700239"/>
            <a:ext cx="18288000" cy="128116"/>
            <a:chOff x="0" y="0"/>
            <a:chExt cx="4816593" cy="3374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816592" cy="33742"/>
            </a:xfrm>
            <a:custGeom>
              <a:avLst/>
              <a:gdLst/>
              <a:ahLst/>
              <a:cxnLst/>
              <a:rect l="l" t="t" r="r" b="b"/>
              <a:pathLst>
                <a:path w="4816592" h="33742">
                  <a:moveTo>
                    <a:pt x="0" y="0"/>
                  </a:moveTo>
                  <a:lnTo>
                    <a:pt x="4816592" y="0"/>
                  </a:lnTo>
                  <a:lnTo>
                    <a:pt x="4816592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816593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8774" y="165100"/>
            <a:ext cx="7373549" cy="863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Requirement Overview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385599"/>
            <a:ext cx="12652639" cy="389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This template helps define the AI project deliverables, success measures, and expected ROI.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28700" y="1909081"/>
            <a:ext cx="12406621" cy="83391"/>
            <a:chOff x="0" y="0"/>
            <a:chExt cx="3267587" cy="2196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267587" cy="21963"/>
            </a:xfrm>
            <a:custGeom>
              <a:avLst/>
              <a:gdLst/>
              <a:ahLst/>
              <a:cxnLst/>
              <a:rect l="l" t="t" r="r" b="b"/>
              <a:pathLst>
                <a:path w="3267587" h="21963">
                  <a:moveTo>
                    <a:pt x="0" y="0"/>
                  </a:moveTo>
                  <a:lnTo>
                    <a:pt x="3267587" y="0"/>
                  </a:lnTo>
                  <a:lnTo>
                    <a:pt x="3267587" y="21963"/>
                  </a:lnTo>
                  <a:lnTo>
                    <a:pt x="0" y="21963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0C6E8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3267587" cy="60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aphicFrame>
        <p:nvGraphicFramePr>
          <p:cNvPr id="15" name="Table 15"/>
          <p:cNvGraphicFramePr>
            <a:graphicFrameLocks noGrp="1"/>
          </p:cNvGraphicFramePr>
          <p:nvPr/>
        </p:nvGraphicFramePr>
        <p:xfrm>
          <a:off x="1028774" y="2574824"/>
          <a:ext cx="16230600" cy="5467350"/>
        </p:xfrm>
        <a:graphic>
          <a:graphicData uri="http://schemas.openxmlformats.org/drawingml/2006/table">
            <a:tbl>
              <a:tblPr/>
              <a:tblGrid>
                <a:gridCol w="1623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81050">
                <a:tc>
                  <a:txBody>
                    <a:bodyPr/>
                    <a:lstStyle/>
                    <a:p>
                      <a:pPr marL="647703" lvl="1" indent="-323852" algn="l">
                        <a:lnSpc>
                          <a:spcPts val="42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Define the project scope — what is included and what is excluded.</a:t>
                      </a: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marL="647703" lvl="1" indent="-323852" algn="l">
                        <a:lnSpc>
                          <a:spcPts val="42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List the key deliverables — the specific outputs or products the project will produce.</a:t>
                      </a: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marL="647703" lvl="1" indent="-323852" algn="l">
                        <a:lnSpc>
                          <a:spcPts val="42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Describe the expected output — what will the AI solution look like when done?</a:t>
                      </a: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marL="647703" lvl="1" indent="-323852" algn="l">
                        <a:lnSpc>
                          <a:spcPts val="42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Estimate the ROI — calculate the return based on cost savings and efficiency gains.</a:t>
                      </a: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marL="647703" lvl="1" indent="-323852" algn="l">
                        <a:lnSpc>
                          <a:spcPts val="42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Quantify cost and time reduction where possible.</a:t>
                      </a: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marL="647703" lvl="1" indent="-323852" algn="l">
                        <a:lnSpc>
                          <a:spcPts val="42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Identify any limitations or assumptions that could affect delivery.</a:t>
                      </a: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marL="647703" lvl="1" indent="-323852" algn="l">
                        <a:lnSpc>
                          <a:spcPts val="42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Use the Final Agreement page to document stakeholder sign-off and next actions.</a:t>
                      </a: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02509"/>
            <a:chOff x="0" y="0"/>
            <a:chExt cx="4816593" cy="3167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16710"/>
            </a:xfrm>
            <a:custGeom>
              <a:avLst/>
              <a:gdLst/>
              <a:ahLst/>
              <a:cxnLst/>
              <a:rect l="l" t="t" r="r" b="b"/>
              <a:pathLst>
                <a:path w="4816592" h="316710">
                  <a:moveTo>
                    <a:pt x="0" y="0"/>
                  </a:moveTo>
                  <a:lnTo>
                    <a:pt x="4816592" y="0"/>
                  </a:lnTo>
                  <a:lnTo>
                    <a:pt x="4816592" y="316710"/>
                  </a:lnTo>
                  <a:lnTo>
                    <a:pt x="0" y="316710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25000">
                  <a:srgbClr val="0C6E84">
                    <a:alpha val="100000"/>
                  </a:srgbClr>
                </a:gs>
                <a:gs pos="50000">
                  <a:srgbClr val="0C6E84">
                    <a:alpha val="100000"/>
                  </a:srgbClr>
                </a:gs>
                <a:gs pos="75000">
                  <a:srgbClr val="FFFF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54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837720" y="173809"/>
            <a:ext cx="2249731" cy="1028700"/>
          </a:xfrm>
          <a:custGeom>
            <a:avLst/>
            <a:gdLst/>
            <a:ahLst/>
            <a:cxnLst/>
            <a:rect l="l" t="t" r="r" b="b"/>
            <a:pathLst>
              <a:path w="2249731" h="1028700">
                <a:moveTo>
                  <a:pt x="0" y="0"/>
                </a:moveTo>
                <a:lnTo>
                  <a:pt x="2249732" y="0"/>
                </a:lnTo>
                <a:lnTo>
                  <a:pt x="2249732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0" y="9700825"/>
            <a:ext cx="18288000" cy="128116"/>
            <a:chOff x="0" y="0"/>
            <a:chExt cx="4816593" cy="337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33742"/>
            </a:xfrm>
            <a:custGeom>
              <a:avLst/>
              <a:gdLst/>
              <a:ahLst/>
              <a:cxnLst/>
              <a:rect l="l" t="t" r="r" b="b"/>
              <a:pathLst>
                <a:path w="4816592" h="33742">
                  <a:moveTo>
                    <a:pt x="0" y="0"/>
                  </a:moveTo>
                  <a:lnTo>
                    <a:pt x="4816592" y="0"/>
                  </a:lnTo>
                  <a:lnTo>
                    <a:pt x="4816592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16593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165100"/>
            <a:ext cx="10139886" cy="863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Scope &amp; Expectation Worksheet</a:t>
            </a:r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418598" y="1333574"/>
          <a:ext cx="16442048" cy="4111054"/>
        </p:xfrm>
        <a:graphic>
          <a:graphicData uri="http://schemas.openxmlformats.org/drawingml/2006/table">
            <a:tbl>
              <a:tblPr/>
              <a:tblGrid>
                <a:gridCol w="82210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1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53749">
                <a:tc gridSpan="2">
                  <a:txBody>
                    <a:bodyPr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Project Scope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Project Scope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4341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IN Scope — What this project WILL deliver: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OUT of Scope — What this project will NOT include: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5B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720">
                <a:tc rowSpan="6"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720">
                <a:tc vMerge="1"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8381">
                <a:tc vMerge="1"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8381">
                <a:tc vMerge="1"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8381">
                <a:tc vMerge="1"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8381">
                <a:tc vMerge="1"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418598" y="6107624"/>
          <a:ext cx="16442048" cy="2526500"/>
        </p:xfrm>
        <a:graphic>
          <a:graphicData uri="http://schemas.openxmlformats.org/drawingml/2006/table">
            <a:tbl>
              <a:tblPr/>
              <a:tblGrid>
                <a:gridCol w="82210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1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9772">
                <a:tc gridSpan="2"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Key Assumptions: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Key Assumptions: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8">
                <a:tc rowSpan="6" gridSpan="2"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 hMerge="1"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8">
                <a:tc gridSpan="2" vMerge="1"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803">
                <a:tc gridSpan="2" vMerge="1"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803">
                <a:tc gridSpan="2" vMerge="1"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803">
                <a:tc gridSpan="2" vMerge="1"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5803">
                <a:tc gridSpan="2" vMerge="1"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02509"/>
            <a:chOff x="0" y="0"/>
            <a:chExt cx="4816593" cy="3167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16710"/>
            </a:xfrm>
            <a:custGeom>
              <a:avLst/>
              <a:gdLst/>
              <a:ahLst/>
              <a:cxnLst/>
              <a:rect l="l" t="t" r="r" b="b"/>
              <a:pathLst>
                <a:path w="4816592" h="316710">
                  <a:moveTo>
                    <a:pt x="0" y="0"/>
                  </a:moveTo>
                  <a:lnTo>
                    <a:pt x="4816592" y="0"/>
                  </a:lnTo>
                  <a:lnTo>
                    <a:pt x="4816592" y="316710"/>
                  </a:lnTo>
                  <a:lnTo>
                    <a:pt x="0" y="316710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25000">
                  <a:srgbClr val="0C6E84">
                    <a:alpha val="100000"/>
                  </a:srgbClr>
                </a:gs>
                <a:gs pos="50000">
                  <a:srgbClr val="0C6E84">
                    <a:alpha val="100000"/>
                  </a:srgbClr>
                </a:gs>
                <a:gs pos="75000">
                  <a:srgbClr val="FFFF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54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837720" y="173809"/>
            <a:ext cx="2249731" cy="1028700"/>
          </a:xfrm>
          <a:custGeom>
            <a:avLst/>
            <a:gdLst/>
            <a:ahLst/>
            <a:cxnLst/>
            <a:rect l="l" t="t" r="r" b="b"/>
            <a:pathLst>
              <a:path w="2249731" h="1028700">
                <a:moveTo>
                  <a:pt x="0" y="0"/>
                </a:moveTo>
                <a:lnTo>
                  <a:pt x="2249732" y="0"/>
                </a:lnTo>
                <a:lnTo>
                  <a:pt x="2249732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0" y="9700825"/>
            <a:ext cx="18288000" cy="128116"/>
            <a:chOff x="0" y="0"/>
            <a:chExt cx="4816593" cy="337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33742"/>
            </a:xfrm>
            <a:custGeom>
              <a:avLst/>
              <a:gdLst/>
              <a:ahLst/>
              <a:cxnLst/>
              <a:rect l="l" t="t" r="r" b="b"/>
              <a:pathLst>
                <a:path w="4816592" h="33742">
                  <a:moveTo>
                    <a:pt x="0" y="0"/>
                  </a:moveTo>
                  <a:lnTo>
                    <a:pt x="4816592" y="0"/>
                  </a:lnTo>
                  <a:lnTo>
                    <a:pt x="4816592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16593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165100"/>
            <a:ext cx="8115300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Pain Points &amp; Target Users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74557" y="1524630"/>
            <a:ext cx="5754324" cy="33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List every deliverable this project must produce.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03935" y="1909081"/>
            <a:ext cx="5680648" cy="83391"/>
            <a:chOff x="0" y="0"/>
            <a:chExt cx="1496138" cy="219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96138" cy="21963"/>
            </a:xfrm>
            <a:custGeom>
              <a:avLst/>
              <a:gdLst/>
              <a:ahLst/>
              <a:cxnLst/>
              <a:rect l="l" t="t" r="r" b="b"/>
              <a:pathLst>
                <a:path w="1496138" h="21963">
                  <a:moveTo>
                    <a:pt x="0" y="0"/>
                  </a:moveTo>
                  <a:lnTo>
                    <a:pt x="1496138" y="0"/>
                  </a:lnTo>
                  <a:lnTo>
                    <a:pt x="1496138" y="21963"/>
                  </a:lnTo>
                  <a:lnTo>
                    <a:pt x="0" y="21963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0C6E8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496138" cy="60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aphicFrame>
        <p:nvGraphicFramePr>
          <p:cNvPr id="14" name="Table 14"/>
          <p:cNvGraphicFramePr>
            <a:graphicFrameLocks noGrp="1"/>
          </p:cNvGraphicFramePr>
          <p:nvPr/>
        </p:nvGraphicFramePr>
        <p:xfrm>
          <a:off x="922976" y="2697321"/>
          <a:ext cx="16442048" cy="6115050"/>
        </p:xfrm>
        <a:graphic>
          <a:graphicData uri="http://schemas.openxmlformats.org/drawingml/2006/table">
            <a:tbl>
              <a:tblPr/>
              <a:tblGrid>
                <a:gridCol w="524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581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581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03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003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003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3772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#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Deliverable Name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Format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Responsible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Due Date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Description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6410"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1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6410"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2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6410"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3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6410"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4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6410"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5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6410"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6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96410"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7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96410"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8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02509"/>
            <a:chOff x="0" y="0"/>
            <a:chExt cx="4816593" cy="3167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16710"/>
            </a:xfrm>
            <a:custGeom>
              <a:avLst/>
              <a:gdLst/>
              <a:ahLst/>
              <a:cxnLst/>
              <a:rect l="l" t="t" r="r" b="b"/>
              <a:pathLst>
                <a:path w="4816592" h="316710">
                  <a:moveTo>
                    <a:pt x="0" y="0"/>
                  </a:moveTo>
                  <a:lnTo>
                    <a:pt x="4816592" y="0"/>
                  </a:lnTo>
                  <a:lnTo>
                    <a:pt x="4816592" y="316710"/>
                  </a:lnTo>
                  <a:lnTo>
                    <a:pt x="0" y="316710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25000">
                  <a:srgbClr val="0C6E84">
                    <a:alpha val="100000"/>
                  </a:srgbClr>
                </a:gs>
                <a:gs pos="50000">
                  <a:srgbClr val="0C6E84">
                    <a:alpha val="100000"/>
                  </a:srgbClr>
                </a:gs>
                <a:gs pos="75000">
                  <a:srgbClr val="FFFF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54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837720" y="173809"/>
            <a:ext cx="2249731" cy="1028700"/>
          </a:xfrm>
          <a:custGeom>
            <a:avLst/>
            <a:gdLst/>
            <a:ahLst/>
            <a:cxnLst/>
            <a:rect l="l" t="t" r="r" b="b"/>
            <a:pathLst>
              <a:path w="2249731" h="1028700">
                <a:moveTo>
                  <a:pt x="0" y="0"/>
                </a:moveTo>
                <a:lnTo>
                  <a:pt x="2249732" y="0"/>
                </a:lnTo>
                <a:lnTo>
                  <a:pt x="2249732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0" y="9700825"/>
            <a:ext cx="18288000" cy="128116"/>
            <a:chOff x="0" y="0"/>
            <a:chExt cx="4816593" cy="337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33742"/>
            </a:xfrm>
            <a:custGeom>
              <a:avLst/>
              <a:gdLst/>
              <a:ahLst/>
              <a:cxnLst/>
              <a:rect l="l" t="t" r="r" b="b"/>
              <a:pathLst>
                <a:path w="4816592" h="33742">
                  <a:moveTo>
                    <a:pt x="0" y="0"/>
                  </a:moveTo>
                  <a:lnTo>
                    <a:pt x="4816592" y="0"/>
                  </a:lnTo>
                  <a:lnTo>
                    <a:pt x="4816592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16593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165100"/>
            <a:ext cx="5361694" cy="863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Expected Output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74557" y="1524630"/>
            <a:ext cx="9252616" cy="33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Describe what the completed AI solution will look like and how it will be used.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03935" y="1909081"/>
            <a:ext cx="9166720" cy="83391"/>
            <a:chOff x="0" y="0"/>
            <a:chExt cx="2414280" cy="219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414280" cy="21963"/>
            </a:xfrm>
            <a:custGeom>
              <a:avLst/>
              <a:gdLst/>
              <a:ahLst/>
              <a:cxnLst/>
              <a:rect l="l" t="t" r="r" b="b"/>
              <a:pathLst>
                <a:path w="2414280" h="21963">
                  <a:moveTo>
                    <a:pt x="0" y="0"/>
                  </a:moveTo>
                  <a:lnTo>
                    <a:pt x="2414280" y="0"/>
                  </a:lnTo>
                  <a:lnTo>
                    <a:pt x="2414280" y="21963"/>
                  </a:lnTo>
                  <a:lnTo>
                    <a:pt x="0" y="21963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0C6E8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414280" cy="60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aphicFrame>
        <p:nvGraphicFramePr>
          <p:cNvPr id="14" name="Table 14"/>
          <p:cNvGraphicFramePr>
            <a:graphicFrameLocks noGrp="1"/>
          </p:cNvGraphicFramePr>
          <p:nvPr/>
        </p:nvGraphicFramePr>
        <p:xfrm>
          <a:off x="1028700" y="2354421"/>
          <a:ext cx="8056374" cy="7092144"/>
        </p:xfrm>
        <a:graphic>
          <a:graphicData uri="http://schemas.openxmlformats.org/drawingml/2006/table">
            <a:tbl>
              <a:tblPr/>
              <a:tblGrid>
                <a:gridCol w="80563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64339">
                <a:tc>
                  <a:txBody>
                    <a:bodyPr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What will users see or interact with?</a:t>
                      </a: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2049"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i="1">
                          <a:solidFill>
                            <a:srgbClr val="000000"/>
                          </a:solidFill>
                          <a:latin typeface="Arimo Italics"/>
                          <a:ea typeface="Arimo Italics"/>
                          <a:cs typeface="Arimo Italics"/>
                          <a:sym typeface="Arimo Italics"/>
                        </a:rPr>
                        <a:t>e.g. Dashboard, report, chatbot, alert system, automated workflow</a:t>
                      </a: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4339">
                <a:tc>
                  <a:txBody>
                    <a:bodyPr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How will the output be accessed?</a:t>
                      </a: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3539"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i="1">
                          <a:solidFill>
                            <a:srgbClr val="000000"/>
                          </a:solidFill>
                          <a:latin typeface="Arimo Italics"/>
                          <a:ea typeface="Arimo Italics"/>
                          <a:cs typeface="Arimo Italics"/>
                          <a:sym typeface="Arimo Italics"/>
                        </a:rPr>
                        <a:t>e.g. Web browser, mobile app, email, integrated into existing system</a:t>
                      </a: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4339">
                <a:tc>
                  <a:txBody>
                    <a:bodyPr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How often will the output be generated?</a:t>
                      </a: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93539"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i="1">
                          <a:solidFill>
                            <a:srgbClr val="000000"/>
                          </a:solidFill>
                          <a:latin typeface="Arimo Italics"/>
                          <a:ea typeface="Arimo Italics"/>
                          <a:cs typeface="Arimo Italics"/>
                          <a:sym typeface="Arimo Italics"/>
                        </a:rPr>
                        <a:t>e.g. Real-time, daily, weekly, on-demand</a:t>
                      </a: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5" name="Table 15"/>
          <p:cNvGraphicFramePr>
            <a:graphicFrameLocks noGrp="1"/>
          </p:cNvGraphicFramePr>
          <p:nvPr/>
        </p:nvGraphicFramePr>
        <p:xfrm>
          <a:off x="9424599" y="2354421"/>
          <a:ext cx="8056374" cy="4613908"/>
        </p:xfrm>
        <a:graphic>
          <a:graphicData uri="http://schemas.openxmlformats.org/drawingml/2006/table">
            <a:tbl>
              <a:tblPr/>
              <a:tblGrid>
                <a:gridCol w="80563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61421">
                <a:tc>
                  <a:txBody>
                    <a:bodyPr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Who will review and act on the output?</a:t>
                      </a: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5406"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i="1">
                          <a:solidFill>
                            <a:srgbClr val="000000"/>
                          </a:solidFill>
                          <a:latin typeface="Arimo Italics"/>
                          <a:ea typeface="Arimo Italics"/>
                          <a:cs typeface="Arimo Italics"/>
                          <a:sym typeface="Arimo Italics"/>
                        </a:rPr>
                        <a:t>Name the roles or departments that will use the output</a:t>
                      </a: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1421">
                <a:tc>
                  <a:txBody>
                    <a:bodyPr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How will success be measured?</a:t>
                      </a: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5660"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 i="1">
                          <a:solidFill>
                            <a:srgbClr val="000000"/>
                          </a:solidFill>
                          <a:latin typeface="Arimo Italics"/>
                          <a:ea typeface="Arimo Italics"/>
                          <a:cs typeface="Arimo Italics"/>
                          <a:sym typeface="Arimo Italics"/>
                        </a:rPr>
                        <a:t>Define 2–3 KPIs or metrics that confirm the output is working correctly</a:t>
                      </a:r>
                      <a:endParaRPr lang="en-US" sz="1100"/>
                    </a:p>
                  </a:txBody>
                  <a:tcPr marL="76200" marR="76200" marT="76200" marB="76200" anchor="ctr">
                    <a:lnL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82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02509"/>
            <a:chOff x="0" y="0"/>
            <a:chExt cx="4816593" cy="3167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16710"/>
            </a:xfrm>
            <a:custGeom>
              <a:avLst/>
              <a:gdLst/>
              <a:ahLst/>
              <a:cxnLst/>
              <a:rect l="l" t="t" r="r" b="b"/>
              <a:pathLst>
                <a:path w="4816592" h="316710">
                  <a:moveTo>
                    <a:pt x="0" y="0"/>
                  </a:moveTo>
                  <a:lnTo>
                    <a:pt x="4816592" y="0"/>
                  </a:lnTo>
                  <a:lnTo>
                    <a:pt x="4816592" y="316710"/>
                  </a:lnTo>
                  <a:lnTo>
                    <a:pt x="0" y="316710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25000">
                  <a:srgbClr val="0C6E84">
                    <a:alpha val="100000"/>
                  </a:srgbClr>
                </a:gs>
                <a:gs pos="50000">
                  <a:srgbClr val="0C6E84">
                    <a:alpha val="100000"/>
                  </a:srgbClr>
                </a:gs>
                <a:gs pos="75000">
                  <a:srgbClr val="FFFF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54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837720" y="173809"/>
            <a:ext cx="2249731" cy="1028700"/>
          </a:xfrm>
          <a:custGeom>
            <a:avLst/>
            <a:gdLst/>
            <a:ahLst/>
            <a:cxnLst/>
            <a:rect l="l" t="t" r="r" b="b"/>
            <a:pathLst>
              <a:path w="2249731" h="1028700">
                <a:moveTo>
                  <a:pt x="0" y="0"/>
                </a:moveTo>
                <a:lnTo>
                  <a:pt x="2249732" y="0"/>
                </a:lnTo>
                <a:lnTo>
                  <a:pt x="2249732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0" y="9700825"/>
            <a:ext cx="18288000" cy="128116"/>
            <a:chOff x="0" y="0"/>
            <a:chExt cx="4816593" cy="337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33742"/>
            </a:xfrm>
            <a:custGeom>
              <a:avLst/>
              <a:gdLst/>
              <a:ahLst/>
              <a:cxnLst/>
              <a:rect l="l" t="t" r="r" b="b"/>
              <a:pathLst>
                <a:path w="4816592" h="33742">
                  <a:moveTo>
                    <a:pt x="0" y="0"/>
                  </a:moveTo>
                  <a:lnTo>
                    <a:pt x="4816592" y="0"/>
                  </a:lnTo>
                  <a:lnTo>
                    <a:pt x="4816592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16593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165100"/>
            <a:ext cx="7301341" cy="863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ROI &amp; Efficiency Impact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74557" y="1524630"/>
            <a:ext cx="7468834" cy="33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Estimate the financial and operational return of this AI project.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03935" y="1909081"/>
            <a:ext cx="7409144" cy="83391"/>
            <a:chOff x="0" y="0"/>
            <a:chExt cx="1951379" cy="219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51379" cy="21963"/>
            </a:xfrm>
            <a:custGeom>
              <a:avLst/>
              <a:gdLst/>
              <a:ahLst/>
              <a:cxnLst/>
              <a:rect l="l" t="t" r="r" b="b"/>
              <a:pathLst>
                <a:path w="1951379" h="21963">
                  <a:moveTo>
                    <a:pt x="0" y="0"/>
                  </a:moveTo>
                  <a:lnTo>
                    <a:pt x="1951379" y="0"/>
                  </a:lnTo>
                  <a:lnTo>
                    <a:pt x="1951379" y="21963"/>
                  </a:lnTo>
                  <a:lnTo>
                    <a:pt x="0" y="21963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0C6E8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951379" cy="60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aphicFrame>
        <p:nvGraphicFramePr>
          <p:cNvPr id="14" name="Table 14"/>
          <p:cNvGraphicFramePr>
            <a:graphicFrameLocks noGrp="1"/>
          </p:cNvGraphicFramePr>
          <p:nvPr/>
        </p:nvGraphicFramePr>
        <p:xfrm>
          <a:off x="1028700" y="2188258"/>
          <a:ext cx="16327748" cy="6217027"/>
        </p:xfrm>
        <a:graphic>
          <a:graphicData uri="http://schemas.openxmlformats.org/drawingml/2006/table">
            <a:tbl>
              <a:tblPr/>
              <a:tblGrid>
                <a:gridCol w="54633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29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51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5543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Metric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Projected with AI Solution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Current Baseline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067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Estimated project cost (RM)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067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Estimated annual cost saving (RM)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2270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Estimated time saving per week (hours)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2270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Estimated time saving per year (hours)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2270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Estimated productivity improvement (%)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12270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Payback period (months)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12270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5-year ROI estimate (%)</a:t>
                      </a: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02509"/>
            <a:chOff x="0" y="0"/>
            <a:chExt cx="4816593" cy="3167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16710"/>
            </a:xfrm>
            <a:custGeom>
              <a:avLst/>
              <a:gdLst/>
              <a:ahLst/>
              <a:cxnLst/>
              <a:rect l="l" t="t" r="r" b="b"/>
              <a:pathLst>
                <a:path w="4816592" h="316710">
                  <a:moveTo>
                    <a:pt x="0" y="0"/>
                  </a:moveTo>
                  <a:lnTo>
                    <a:pt x="4816592" y="0"/>
                  </a:lnTo>
                  <a:lnTo>
                    <a:pt x="4816592" y="316710"/>
                  </a:lnTo>
                  <a:lnTo>
                    <a:pt x="0" y="316710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25000">
                  <a:srgbClr val="0C6E84">
                    <a:alpha val="100000"/>
                  </a:srgbClr>
                </a:gs>
                <a:gs pos="50000">
                  <a:srgbClr val="0C6E84">
                    <a:alpha val="100000"/>
                  </a:srgbClr>
                </a:gs>
                <a:gs pos="75000">
                  <a:srgbClr val="FFFF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54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837720" y="173809"/>
            <a:ext cx="2249731" cy="1028700"/>
          </a:xfrm>
          <a:custGeom>
            <a:avLst/>
            <a:gdLst/>
            <a:ahLst/>
            <a:cxnLst/>
            <a:rect l="l" t="t" r="r" b="b"/>
            <a:pathLst>
              <a:path w="2249731" h="1028700">
                <a:moveTo>
                  <a:pt x="0" y="0"/>
                </a:moveTo>
                <a:lnTo>
                  <a:pt x="2249732" y="0"/>
                </a:lnTo>
                <a:lnTo>
                  <a:pt x="2249732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0" y="9700825"/>
            <a:ext cx="18288000" cy="128116"/>
            <a:chOff x="0" y="0"/>
            <a:chExt cx="4816593" cy="337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33742"/>
            </a:xfrm>
            <a:custGeom>
              <a:avLst/>
              <a:gdLst/>
              <a:ahLst/>
              <a:cxnLst/>
              <a:rect l="l" t="t" r="r" b="b"/>
              <a:pathLst>
                <a:path w="4816592" h="33742">
                  <a:moveTo>
                    <a:pt x="0" y="0"/>
                  </a:moveTo>
                  <a:lnTo>
                    <a:pt x="4816592" y="0"/>
                  </a:lnTo>
                  <a:lnTo>
                    <a:pt x="4816592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16593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165100"/>
            <a:ext cx="7235992" cy="863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Cost &amp; Time Reduction</a:t>
            </a:r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720584" y="2354421"/>
          <a:ext cx="16442048" cy="3368106"/>
        </p:xfrm>
        <a:graphic>
          <a:graphicData uri="http://schemas.openxmlformats.org/drawingml/2006/table">
            <a:tbl>
              <a:tblPr/>
              <a:tblGrid>
                <a:gridCol w="82210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1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37346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Labour Cost Reduction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Time Saving per Process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990">
                <a:tc rowSpan="6">
                  <a:txBody>
                    <a:bodyPr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Which manual tasks will be eliminated or reduced? How many hours per week?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>
                  <a:txBody>
                    <a:bodyPr/>
                    <a:lstStyle/>
                    <a:p>
                      <a:pPr algn="l">
                        <a:lnSpc>
                          <a:spcPts val="2379"/>
                        </a:lnSpc>
                        <a:defRPr/>
                      </a:pPr>
                      <a:r>
                        <a:rPr lang="en-US" sz="1699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For each key process step, estimate time saved per occurrence.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990">
                <a:tc vMerge="1">
                  <a:txBody>
                    <a:bodyPr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Which manual tasks will be eliminated or reduced? How many hours per week?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>
                        <a:lnSpc>
                          <a:spcPts val="2379"/>
                        </a:lnSpc>
                        <a:defRPr/>
                      </a:pPr>
                      <a:r>
                        <a:rPr lang="en-US" sz="1699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For each key process step, estimate time saved per occurrence.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695">
                <a:tc vMerge="1">
                  <a:txBody>
                    <a:bodyPr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Which manual tasks will be eliminated or reduced? How many hours per week?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>
                        <a:lnSpc>
                          <a:spcPts val="2379"/>
                        </a:lnSpc>
                        <a:defRPr/>
                      </a:pPr>
                      <a:r>
                        <a:rPr lang="en-US" sz="1699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For each key process step, estimate time saved per occurrence.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695">
                <a:tc vMerge="1">
                  <a:txBody>
                    <a:bodyPr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Which manual tasks will be eliminated or reduced? How many hours per week?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>
                        <a:lnSpc>
                          <a:spcPts val="2379"/>
                        </a:lnSpc>
                        <a:defRPr/>
                      </a:pPr>
                      <a:r>
                        <a:rPr lang="en-US" sz="1699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For each key process step, estimate time saved per occurrence.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9695">
                <a:tc vMerge="1">
                  <a:txBody>
                    <a:bodyPr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Which manual tasks will be eliminated or reduced? How many hours per week?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>
                        <a:lnSpc>
                          <a:spcPts val="2379"/>
                        </a:lnSpc>
                        <a:defRPr/>
                      </a:pPr>
                      <a:r>
                        <a:rPr lang="en-US" sz="1699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For each key process step, estimate time saved per occurrence.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9695">
                <a:tc vMerge="1">
                  <a:txBody>
                    <a:bodyPr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Which manual tasks will be eliminated or reduced? How many hours per week?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>
                        <a:lnSpc>
                          <a:spcPts val="2379"/>
                        </a:lnSpc>
                        <a:defRPr/>
                      </a:pPr>
                      <a:r>
                        <a:rPr lang="en-US" sz="1699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For each key process step, estimate time saved per occurrence.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Box 11"/>
          <p:cNvSpPr txBox="1"/>
          <p:nvPr/>
        </p:nvSpPr>
        <p:spPr>
          <a:xfrm>
            <a:off x="974557" y="1524630"/>
            <a:ext cx="7157105" cy="33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Detail the specific areas where cost or time will be reduced.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03935" y="1909081"/>
            <a:ext cx="7052355" cy="83391"/>
            <a:chOff x="0" y="0"/>
            <a:chExt cx="1857410" cy="2196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57410" cy="21963"/>
            </a:xfrm>
            <a:custGeom>
              <a:avLst/>
              <a:gdLst/>
              <a:ahLst/>
              <a:cxnLst/>
              <a:rect l="l" t="t" r="r" b="b"/>
              <a:pathLst>
                <a:path w="1857410" h="21963">
                  <a:moveTo>
                    <a:pt x="0" y="0"/>
                  </a:moveTo>
                  <a:lnTo>
                    <a:pt x="1857410" y="0"/>
                  </a:lnTo>
                  <a:lnTo>
                    <a:pt x="1857410" y="21963"/>
                  </a:lnTo>
                  <a:lnTo>
                    <a:pt x="0" y="21963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0C6E8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857410" cy="60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aphicFrame>
        <p:nvGraphicFramePr>
          <p:cNvPr id="15" name="Table 15"/>
          <p:cNvGraphicFramePr>
            <a:graphicFrameLocks noGrp="1"/>
          </p:cNvGraphicFramePr>
          <p:nvPr/>
        </p:nvGraphicFramePr>
        <p:xfrm>
          <a:off x="720584" y="5890195"/>
          <a:ext cx="16442048" cy="3368106"/>
        </p:xfrm>
        <a:graphic>
          <a:graphicData uri="http://schemas.openxmlformats.org/drawingml/2006/table">
            <a:tbl>
              <a:tblPr/>
              <a:tblGrid>
                <a:gridCol w="82210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1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37346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Error Reduction Savings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Reporting &amp; Administration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990">
                <a:tc rowSpan="6">
                  <a:txBody>
                    <a:bodyPr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What is the current cost of errors? How much will be saved?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>
                  <a:txBody>
                    <a:bodyPr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How much time is currently spent on manual reporting or admin?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990">
                <a:tc vMerge="1">
                  <a:txBody>
                    <a:bodyPr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What is the current cost of errors? How much will be saved?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How much time is currently spent on manual reporting or admin?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695">
                <a:tc vMerge="1">
                  <a:txBody>
                    <a:bodyPr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What is the current cost of errors? How much will be saved?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How much time is currently spent on manual reporting or admin?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695">
                <a:tc vMerge="1">
                  <a:txBody>
                    <a:bodyPr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What is the current cost of errors? How much will be saved?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How much time is currently spent on manual reporting or admin?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9695">
                <a:tc vMerge="1">
                  <a:txBody>
                    <a:bodyPr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What is the current cost of errors? How much will be saved?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How much time is currently spent on manual reporting or admin?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9695">
                <a:tc vMerge="1">
                  <a:txBody>
                    <a:bodyPr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What is the current cost of errors? How much will be saved?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i="1">
                          <a:solidFill>
                            <a:srgbClr val="000000"/>
                          </a:solidFill>
                          <a:latin typeface="Open Sans Italics"/>
                          <a:ea typeface="Open Sans Italics"/>
                          <a:cs typeface="Open Sans Italics"/>
                          <a:sym typeface="Open Sans Italics"/>
                        </a:rPr>
                        <a:t>How much time is currently spent on manual reporting or admin?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18288000" cy="1202509"/>
            <a:chOff x="0" y="0"/>
            <a:chExt cx="4816593" cy="31671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316710"/>
            </a:xfrm>
            <a:custGeom>
              <a:avLst/>
              <a:gdLst/>
              <a:ahLst/>
              <a:cxnLst/>
              <a:rect l="l" t="t" r="r" b="b"/>
              <a:pathLst>
                <a:path w="4816592" h="316710">
                  <a:moveTo>
                    <a:pt x="0" y="0"/>
                  </a:moveTo>
                  <a:lnTo>
                    <a:pt x="4816592" y="0"/>
                  </a:lnTo>
                  <a:lnTo>
                    <a:pt x="4816592" y="316710"/>
                  </a:lnTo>
                  <a:lnTo>
                    <a:pt x="0" y="316710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25000">
                  <a:srgbClr val="0C6E84">
                    <a:alpha val="100000"/>
                  </a:srgbClr>
                </a:gs>
                <a:gs pos="50000">
                  <a:srgbClr val="0C6E84">
                    <a:alpha val="100000"/>
                  </a:srgbClr>
                </a:gs>
                <a:gs pos="75000">
                  <a:srgbClr val="FFFF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354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5837720" y="173809"/>
            <a:ext cx="2249731" cy="1028700"/>
          </a:xfrm>
          <a:custGeom>
            <a:avLst/>
            <a:gdLst/>
            <a:ahLst/>
            <a:cxnLst/>
            <a:rect l="l" t="t" r="r" b="b"/>
            <a:pathLst>
              <a:path w="2249731" h="1028700">
                <a:moveTo>
                  <a:pt x="0" y="0"/>
                </a:moveTo>
                <a:lnTo>
                  <a:pt x="2249732" y="0"/>
                </a:lnTo>
                <a:lnTo>
                  <a:pt x="2249732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7" name="Group 7"/>
          <p:cNvGrpSpPr/>
          <p:nvPr/>
        </p:nvGrpSpPr>
        <p:grpSpPr>
          <a:xfrm>
            <a:off x="0" y="9700825"/>
            <a:ext cx="18288000" cy="128116"/>
            <a:chOff x="0" y="0"/>
            <a:chExt cx="4816593" cy="3374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816592" cy="33742"/>
            </a:xfrm>
            <a:custGeom>
              <a:avLst/>
              <a:gdLst/>
              <a:ahLst/>
              <a:cxnLst/>
              <a:rect l="l" t="t" r="r" b="b"/>
              <a:pathLst>
                <a:path w="4816592" h="33742">
                  <a:moveTo>
                    <a:pt x="0" y="0"/>
                  </a:moveTo>
                  <a:lnTo>
                    <a:pt x="4816592" y="0"/>
                  </a:lnTo>
                  <a:lnTo>
                    <a:pt x="4816592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816593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8700" y="165100"/>
            <a:ext cx="8959695" cy="863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Job Efficiency Improvement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74557" y="1524630"/>
            <a:ext cx="6908426" cy="33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Describe how work quality and performance will improve.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03935" y="1909081"/>
            <a:ext cx="6827468" cy="83391"/>
            <a:chOff x="0" y="0"/>
            <a:chExt cx="1798181" cy="2196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798181" cy="21963"/>
            </a:xfrm>
            <a:custGeom>
              <a:avLst/>
              <a:gdLst/>
              <a:ahLst/>
              <a:cxnLst/>
              <a:rect l="l" t="t" r="r" b="b"/>
              <a:pathLst>
                <a:path w="1798181" h="21963">
                  <a:moveTo>
                    <a:pt x="0" y="0"/>
                  </a:moveTo>
                  <a:lnTo>
                    <a:pt x="1798181" y="0"/>
                  </a:lnTo>
                  <a:lnTo>
                    <a:pt x="1798181" y="21963"/>
                  </a:lnTo>
                  <a:lnTo>
                    <a:pt x="0" y="21963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0C6E8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798181" cy="60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aphicFrame>
        <p:nvGraphicFramePr>
          <p:cNvPr id="15" name="Table 15"/>
          <p:cNvGraphicFramePr>
            <a:graphicFrameLocks noGrp="1"/>
          </p:cNvGraphicFramePr>
          <p:nvPr/>
        </p:nvGraphicFramePr>
        <p:xfrm>
          <a:off x="922976" y="2697321"/>
          <a:ext cx="16442049" cy="6089911"/>
        </p:xfrm>
        <a:graphic>
          <a:graphicData uri="http://schemas.openxmlformats.org/drawingml/2006/table">
            <a:tbl>
              <a:tblPr/>
              <a:tblGrid>
                <a:gridCol w="39199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1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0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105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3775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Role / Job Function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Current Efficiency Challenge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Measurement Method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Expected Improvement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267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267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267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3267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3267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3267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93267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93267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18288000" cy="1202509"/>
            <a:chOff x="0" y="0"/>
            <a:chExt cx="4816593" cy="31671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316710"/>
            </a:xfrm>
            <a:custGeom>
              <a:avLst/>
              <a:gdLst/>
              <a:ahLst/>
              <a:cxnLst/>
              <a:rect l="l" t="t" r="r" b="b"/>
              <a:pathLst>
                <a:path w="4816592" h="316710">
                  <a:moveTo>
                    <a:pt x="0" y="0"/>
                  </a:moveTo>
                  <a:lnTo>
                    <a:pt x="4816592" y="0"/>
                  </a:lnTo>
                  <a:lnTo>
                    <a:pt x="4816592" y="316710"/>
                  </a:lnTo>
                  <a:lnTo>
                    <a:pt x="0" y="316710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25000">
                  <a:srgbClr val="0C6E84">
                    <a:alpha val="100000"/>
                  </a:srgbClr>
                </a:gs>
                <a:gs pos="50000">
                  <a:srgbClr val="0C6E84">
                    <a:alpha val="100000"/>
                  </a:srgbClr>
                </a:gs>
                <a:gs pos="75000">
                  <a:srgbClr val="FFFF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354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5837720" y="173809"/>
            <a:ext cx="2249731" cy="1028700"/>
          </a:xfrm>
          <a:custGeom>
            <a:avLst/>
            <a:gdLst/>
            <a:ahLst/>
            <a:cxnLst/>
            <a:rect l="l" t="t" r="r" b="b"/>
            <a:pathLst>
              <a:path w="2249731" h="1028700">
                <a:moveTo>
                  <a:pt x="0" y="0"/>
                </a:moveTo>
                <a:lnTo>
                  <a:pt x="2249732" y="0"/>
                </a:lnTo>
                <a:lnTo>
                  <a:pt x="2249732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7" name="Group 7"/>
          <p:cNvGrpSpPr/>
          <p:nvPr/>
        </p:nvGrpSpPr>
        <p:grpSpPr>
          <a:xfrm>
            <a:off x="0" y="9700825"/>
            <a:ext cx="18288000" cy="128116"/>
            <a:chOff x="0" y="0"/>
            <a:chExt cx="4816593" cy="3374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816592" cy="33742"/>
            </a:xfrm>
            <a:custGeom>
              <a:avLst/>
              <a:gdLst/>
              <a:ahLst/>
              <a:cxnLst/>
              <a:rect l="l" t="t" r="r" b="b"/>
              <a:pathLst>
                <a:path w="4816592" h="33742">
                  <a:moveTo>
                    <a:pt x="0" y="0"/>
                  </a:moveTo>
                  <a:lnTo>
                    <a:pt x="4816592" y="0"/>
                  </a:lnTo>
                  <a:lnTo>
                    <a:pt x="4816592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816593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8700" y="165100"/>
            <a:ext cx="6749950" cy="863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Final Agreement Page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74557" y="1524630"/>
            <a:ext cx="5816216" cy="33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Record stakeholder agreement and next actions.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03935" y="1909081"/>
            <a:ext cx="5738899" cy="83391"/>
            <a:chOff x="0" y="0"/>
            <a:chExt cx="1511480" cy="2196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11480" cy="21963"/>
            </a:xfrm>
            <a:custGeom>
              <a:avLst/>
              <a:gdLst/>
              <a:ahLst/>
              <a:cxnLst/>
              <a:rect l="l" t="t" r="r" b="b"/>
              <a:pathLst>
                <a:path w="1511480" h="21963">
                  <a:moveTo>
                    <a:pt x="0" y="0"/>
                  </a:moveTo>
                  <a:lnTo>
                    <a:pt x="1511480" y="0"/>
                  </a:lnTo>
                  <a:lnTo>
                    <a:pt x="1511480" y="21963"/>
                  </a:lnTo>
                  <a:lnTo>
                    <a:pt x="0" y="21963"/>
                  </a:lnTo>
                  <a:close/>
                </a:path>
              </a:pathLst>
            </a:custGeom>
            <a:gradFill rotWithShape="1">
              <a:gsLst>
                <a:gs pos="0">
                  <a:srgbClr val="0C6E84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0C6E8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511480" cy="60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aphicFrame>
        <p:nvGraphicFramePr>
          <p:cNvPr id="15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6857511"/>
              </p:ext>
            </p:extLst>
          </p:nvPr>
        </p:nvGraphicFramePr>
        <p:xfrm>
          <a:off x="839375" y="5062161"/>
          <a:ext cx="16442048" cy="3930781"/>
        </p:xfrm>
        <a:graphic>
          <a:graphicData uri="http://schemas.openxmlformats.org/drawingml/2006/table">
            <a:tbl>
              <a:tblPr/>
              <a:tblGrid>
                <a:gridCol w="9518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25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012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1081">
                <a:tc gridSpan="3"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 b="1" dirty="0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Next Actions: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Next Actions: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Next Actions: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4244"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Action Item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Responsible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Deadline</a:t>
                      </a: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864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864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3864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3864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6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6065665"/>
              </p:ext>
            </p:extLst>
          </p:nvPr>
        </p:nvGraphicFramePr>
        <p:xfrm>
          <a:off x="839375" y="2324100"/>
          <a:ext cx="16442048" cy="2216138"/>
        </p:xfrm>
        <a:graphic>
          <a:graphicData uri="http://schemas.openxmlformats.org/drawingml/2006/table">
            <a:tbl>
              <a:tblPr/>
              <a:tblGrid>
                <a:gridCol w="16442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86454"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 b="1" dirty="0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What still needs clarification:</a:t>
                      </a: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9684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 dirty="0"/>
                    </a:p>
                  </a:txBody>
                  <a:tcPr marL="28575" marR="28575" marT="28575" marB="28575" anchor="ctr">
                    <a:lnL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14415312" y="478275"/>
            <a:ext cx="3411600" cy="1559970"/>
          </a:xfrm>
          <a:custGeom>
            <a:avLst/>
            <a:gdLst/>
            <a:ahLst/>
            <a:cxnLst/>
            <a:rect l="l" t="t" r="r" b="b"/>
            <a:pathLst>
              <a:path w="3411600" h="1559970">
                <a:moveTo>
                  <a:pt x="0" y="0"/>
                </a:moveTo>
                <a:lnTo>
                  <a:pt x="3411600" y="0"/>
                </a:lnTo>
                <a:lnTo>
                  <a:pt x="3411600" y="1559970"/>
                </a:lnTo>
                <a:lnTo>
                  <a:pt x="0" y="15599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3997" b="-54698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9687851" y="2921793"/>
            <a:ext cx="6665443" cy="3834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3654"/>
              </a:lnSpc>
            </a:pPr>
            <a:r>
              <a:rPr lang="en-US" sz="11977" b="1">
                <a:solidFill>
                  <a:srgbClr val="1C2C4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THANK</a:t>
            </a:r>
          </a:p>
          <a:p>
            <a:pPr algn="just">
              <a:lnSpc>
                <a:spcPts val="13654"/>
              </a:lnSpc>
            </a:pPr>
            <a:r>
              <a:rPr lang="en-US" sz="11977" b="1">
                <a:solidFill>
                  <a:srgbClr val="1C2C4D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YOU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938702" y="9700825"/>
            <a:ext cx="9349298" cy="128116"/>
            <a:chOff x="0" y="0"/>
            <a:chExt cx="2462367" cy="3374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62367" cy="33742"/>
            </a:xfrm>
            <a:custGeom>
              <a:avLst/>
              <a:gdLst/>
              <a:ahLst/>
              <a:cxnLst/>
              <a:rect l="l" t="t" r="r" b="b"/>
              <a:pathLst>
                <a:path w="2462367" h="33742">
                  <a:moveTo>
                    <a:pt x="0" y="0"/>
                  </a:moveTo>
                  <a:lnTo>
                    <a:pt x="2462367" y="0"/>
                  </a:lnTo>
                  <a:lnTo>
                    <a:pt x="2462367" y="33742"/>
                  </a:lnTo>
                  <a:lnTo>
                    <a:pt x="0" y="33742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33333">
                  <a:srgbClr val="FFFFFF">
                    <a:alpha val="100000"/>
                  </a:srgbClr>
                </a:gs>
                <a:gs pos="66667">
                  <a:srgbClr val="0C6E84">
                    <a:alpha val="100000"/>
                  </a:srgbClr>
                </a:gs>
                <a:gs pos="100000">
                  <a:srgbClr val="0C6E8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62367" cy="71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3626382" y="9075907"/>
            <a:ext cx="4491445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303870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Your Pathway To Excellence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505</Words>
  <Application>Microsoft Office PowerPoint</Application>
  <PresentationFormat>Custom</PresentationFormat>
  <Paragraphs>83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Open Sans</vt:lpstr>
      <vt:lpstr>Arial</vt:lpstr>
      <vt:lpstr>Open Sans Bold</vt:lpstr>
      <vt:lpstr>Agrandir Wide Bold</vt:lpstr>
      <vt:lpstr>Bricolage Grotesque</vt:lpstr>
      <vt:lpstr>Bricolage Grotesque Bold</vt:lpstr>
      <vt:lpstr>Canva Student Font</vt:lpstr>
      <vt:lpstr>Calibri</vt:lpstr>
      <vt:lpstr>Arimo Italics</vt:lpstr>
      <vt:lpstr>Open Sans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Expectation Summary  TEMPLATE</dc:title>
  <cp:lastModifiedBy>ALQEDRA AMIR IZZEDDIN AYESH</cp:lastModifiedBy>
  <cp:revision>2</cp:revision>
  <dcterms:created xsi:type="dcterms:W3CDTF">2006-08-16T00:00:00Z</dcterms:created>
  <dcterms:modified xsi:type="dcterms:W3CDTF">2026-05-02T10:24:37Z</dcterms:modified>
  <dc:identifier>DAHIgB0JrkA</dc:identifier>
</cp:coreProperties>
</file>